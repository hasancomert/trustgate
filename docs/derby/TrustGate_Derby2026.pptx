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57b31ba-9437-038b-5924-53328c364fe3}">
          <p14:sldIdLst>
            <p14:sldId id="256"/>
          </p14:sldIdLst>
        </p14:section>
        <p14:section name="Problem and solution" id="{06cc75ec-9905-4253-a864-65ef39c1fbf5}">
          <p14:sldIdLst>
            <p14:sldId id="257"/>
            <p14:sldId id="258"/>
          </p14:sldIdLst>
        </p14:section>
        <p14:section name="How it works" id="{e5754a65-bea2-97f2-d91b-4f91594d2c23}">
          <p14:sldIdLst>
            <p14:sldId id="259"/>
            <p14:sldId id="260"/>
          </p14:sldIdLst>
        </p14:section>
        <p14:section name="Evidence" id="{aad91c5f-d1be-de61-7379-67c6cd4342c9}">
          <p14:sldIdLst>
            <p14:sldId id="261"/>
            <p14:sldId id="262"/>
          </p14:sldIdLst>
        </p14:section>
        <p14:section name="Scope" id="{9c359cd4-9a97-6d45-ab15-2f03556d90f8}">
          <p14:sldIdLst>
            <p14:sldId id="263"/>
            <p14:sldId id="264"/>
            <p14:sldId id="265"/>
          </p14:sldIdLst>
        </p14:section>
        <p14:section name="Honesty and next steps" id="{810dc9b0-fd27-2a98-a097-9bcbec18e618}">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1A33"/>
                </a:solidFill>
                <a:latin typeface="+mn-lt"/>
              </a:defRPr>
            </a:pPr>
            <a:r>
              <a:rPr sz="1400" b="0" i="0" u="none" strike="noStrike">
                <a:solidFill>
                  <a:srgbClr val="141A33"/>
                </a:solidFill>
                <a:latin typeface="+mn-lt"/>
              </a:rPr>
              <a:t>Share of each label that TrustGate flagged</a:t>
            </a:r>
          </a:p>
        </c:rich>
      </c:tx>
      <c:layout/>
      <c:overlay val="0"/>
    </c:title>
    <c:autoTitleDeleted val="0"/>
    <c:plotArea>
      <c:layout/>
      <c:barChart>
        <c:barDir val="col"/>
        <c:grouping val="clustered"/>
        <c:varyColors val="0"/>
        <c:ser>
          <c:idx val="0"/>
          <c:order val="0"/>
          <c:tx>
            <c:strRef>
              <c:f>Sheet1!$B$1</c:f>
              <c:strCache>
                <c:ptCount val="1"/>
                <c:pt idx="0">
                  <c:v>Scams (dangerous)</c:v>
                </c:pt>
              </c:strCache>
            </c:strRef>
          </c:tx>
          <c:spPr>
            <a:solidFill>
              <a:srgbClr val="BF1F2B"/>
            </a:solidFill>
            <a:effectLst/>
          </c:spPr>
          <c:invertIfNegative val="0"/>
          <c:dLbls>
            <c:numFmt formatCode="0%" sourceLinked="0"/>
            <c:txPr>
              <a:bodyPr/>
              <a:lstStyle/>
              <a:p>
                <a:pPr>
                  <a:defRPr b="0" i="0" strike="noStrike" sz="1200" u="none">
                    <a:solidFill>
                      <a:srgbClr val="141A33"/>
                    </a:solidFill>
                    <a:latin typeface="+mn-lt"/>
                  </a:defRPr>
                </a:pPr>
              </a:p>
            </c:txPr>
            <c:showLegendKey val="0"/>
            <c:showVal val="1"/>
            <c:showCatName val="0"/>
            <c:showSerName val="0"/>
            <c:showPercent val="0"/>
            <c:showBubbleSize val="0"/>
            <c:showLeaderLines val="0"/>
          </c:dLbls>
          <c:cat>
            <c:multiLvlStrRef>
              <c:f>Sheet1!$A$2:$A$4</c:f>
              <c:multiLvlStrCache>
                <c:ptCount val="3"/>
                <c:lvl>
                  <c:pt idx="0">
                    <c:v>Real English e-mail (400)</c:v>
                  </c:pt>
                  <c:pt idx="1">
                    <c:v>Real Turkish SMS (669)</c:v>
                  </c:pt>
                  <c:pt idx="2">
                    <c:v>Synthetic, EN + TR (150)</c:v>
                  </c:pt>
                </c:lvl>
              </c:multiLvlStrCache>
            </c:multiLvlStrRef>
          </c:cat>
          <c:val>
            <c:numRef>
              <c:f>Sheet1!$B$2:$B$4</c:f>
              <c:numCache>
                <c:formatCode>General</c:formatCode>
                <c:ptCount val="3"/>
                <c:pt idx="0">
                  <c:v>0.9772727272727273</c:v>
                </c:pt>
                <c:pt idx="1">
                  <c:v>1</c:v>
                </c:pt>
                <c:pt idx="2">
                  <c:v>0.98</c:v>
                </c:pt>
              </c:numCache>
            </c:numRef>
          </c:val>
        </c:ser>
        <c:ser>
          <c:idx val="1"/>
          <c:order val="1"/>
          <c:tx>
            <c:strRef>
              <c:f>Sheet1!$C$1</c:f>
              <c:strCache>
                <c:ptCount val="1"/>
                <c:pt idx="0">
                  <c:v>Check first (suspicious)</c:v>
                </c:pt>
              </c:strCache>
            </c:strRef>
          </c:tx>
          <c:spPr>
            <a:solidFill>
              <a:srgbClr val="E2A300"/>
            </a:solidFill>
            <a:effectLst/>
          </c:spPr>
          <c:invertIfNegative val="0"/>
          <c:dLbls>
            <c:numFmt formatCode="0%" sourceLinked="0"/>
            <c:txPr>
              <a:bodyPr/>
              <a:lstStyle/>
              <a:p>
                <a:pPr>
                  <a:defRPr b="0" i="0" strike="noStrike" sz="1200" u="none">
                    <a:solidFill>
                      <a:srgbClr val="141A33"/>
                    </a:solidFill>
                    <a:latin typeface="+mn-lt"/>
                  </a:defRPr>
                </a:pPr>
              </a:p>
            </c:txPr>
            <c:showLegendKey val="0"/>
            <c:showVal val="1"/>
            <c:showCatName val="0"/>
            <c:showSerName val="0"/>
            <c:showPercent val="0"/>
            <c:showBubbleSize val="0"/>
            <c:showLeaderLines val="0"/>
          </c:dLbls>
          <c:cat>
            <c:multiLvlStrRef>
              <c:f>Sheet1!$A$2:$A$4</c:f>
              <c:multiLvlStrCache>
                <c:ptCount val="3"/>
                <c:lvl>
                  <c:pt idx="0">
                    <c:v>Real English e-mail (400)</c:v>
                  </c:pt>
                  <c:pt idx="1">
                    <c:v>Real Turkish SMS (669)</c:v>
                  </c:pt>
                  <c:pt idx="2">
                    <c:v>Synthetic, EN + TR (150)</c:v>
                  </c:pt>
                </c:lvl>
              </c:multiLvlStrCache>
            </c:multiLvlStrRef>
          </c:cat>
          <c:val>
            <c:numRef>
              <c:f>Sheet1!$C$2:$C$4</c:f>
              <c:numCache>
                <c:formatCode>General</c:formatCode>
                <c:ptCount val="3"/>
                <c:pt idx="0">
                  <c:v>0.9508196721311475</c:v>
                </c:pt>
                <c:pt idx="1">
                  <c:v>0.6363636363636364</c:v>
                </c:pt>
                <c:pt idx="2">
                  <c:v>0.4</c:v>
                </c:pt>
              </c:numCache>
            </c:numRef>
          </c:val>
        </c:ser>
        <c:ser>
          <c:idx val="2"/>
          <c:order val="2"/>
          <c:tx>
            <c:strRef>
              <c:f>Sheet1!$D$1</c:f>
              <c:strCache>
                <c:ptCount val="1"/>
                <c:pt idx="0">
                  <c:v>Safe, but flagged (false alarm)</c:v>
                </c:pt>
              </c:strCache>
            </c:strRef>
          </c:tx>
          <c:spPr>
            <a:solidFill>
              <a:srgbClr val="3B4CCA"/>
            </a:solidFill>
            <a:effectLst/>
          </c:spPr>
          <c:invertIfNegative val="0"/>
          <c:dLbls>
            <c:numFmt formatCode="0%" sourceLinked="0"/>
            <c:txPr>
              <a:bodyPr/>
              <a:lstStyle/>
              <a:p>
                <a:pPr>
                  <a:defRPr b="0" i="0" strike="noStrike" sz="1200" u="none">
                    <a:solidFill>
                      <a:srgbClr val="141A33"/>
                    </a:solidFill>
                    <a:latin typeface="+mn-lt"/>
                  </a:defRPr>
                </a:pPr>
              </a:p>
            </c:txPr>
            <c:showLegendKey val="0"/>
            <c:showVal val="1"/>
            <c:showCatName val="0"/>
            <c:showSerName val="0"/>
            <c:showPercent val="0"/>
            <c:showBubbleSize val="0"/>
            <c:showLeaderLines val="0"/>
          </c:dLbls>
          <c:cat>
            <c:multiLvlStrRef>
              <c:f>Sheet1!$A$2:$A$4</c:f>
              <c:multiLvlStrCache>
                <c:ptCount val="3"/>
                <c:lvl>
                  <c:pt idx="0">
                    <c:v>Real English e-mail (400)</c:v>
                  </c:pt>
                  <c:pt idx="1">
                    <c:v>Real Turkish SMS (669)</c:v>
                  </c:pt>
                  <c:pt idx="2">
                    <c:v>Synthetic, EN + TR (150)</c:v>
                  </c:pt>
                </c:lvl>
              </c:multiLvlStrCache>
            </c:multiLvlStrRef>
          </c:cat>
          <c:val>
            <c:numRef>
              <c:f>Sheet1!$D$2:$D$4</c:f>
              <c:numCache>
                <c:formatCode>General</c:formatCode>
                <c:ptCount val="3"/>
                <c:pt idx="0">
                  <c:v>0.13247863247863248</c:v>
                </c:pt>
                <c:pt idx="1">
                  <c:v>0.10856269113149847</c:v>
                </c:pt>
                <c:pt idx="2">
                  <c:v>0.12</c:v>
                </c:pt>
              </c:numCache>
            </c:numRef>
          </c:val>
        </c:ser>
        <c:dLbls>
          <c:numFmt formatCode="0%" sourceLinked="0"/>
          <c:txPr>
            <a:bodyPr/>
            <a:lstStyle/>
            <a:p>
              <a:pPr>
                <a:defRPr b="0" i="0" strike="noStrike" sz="1200" u="none">
                  <a:solidFill>
                    <a:srgbClr val="141A33"/>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CEDD"/>
            </a:solidFill>
            <a:prstDash val="solid"/>
            <a:round/>
          </a:ln>
        </c:spPr>
        <c:txPr>
          <a:bodyPr/>
          <a:lstStyle/>
          <a:p>
            <a:pPr>
              <a:defRPr sz="1200" b="0" i="0" u="none" strike="noStrike">
                <a:solidFill>
                  <a:srgbClr val="141A33"/>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2E5E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380"/>
                </a:solidFill>
                <a:latin typeface="+mn-lt"/>
              </a:defRPr>
            </a:pPr>
            <a:endParaRPr lang="en-US"/>
          </a:p>
        </c:txPr>
        <c:crossAx val="2094734554"/>
        <c:crosses val="autoZero"/>
        <c:crossBetween val="between"/>
        <c:majorUnit val="0.25"/>
      </c:valAx>
      <c:spPr>
        <a:noFill/>
        <a:ln>
          <a:noFill/>
        </a:ln>
        <a:effectLst/>
      </c:spPr>
    </c:plotArea>
    <c:legend>
      <c:legendPos val="b"/>
      <c:overlay val="0"/>
      <c:txPr>
        <a:bodyPr/>
        <a:lstStyle/>
        <a:p>
          <a:pPr>
            <a:defRPr sz="1200">
              <a:solidFill>
                <a:srgbClr val="141A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1A33"/>
                </a:solidFill>
                <a:latin typeface="+mn-lt"/>
              </a:defRPr>
            </a:pPr>
            <a:r>
              <a:rPr sz="1400" b="0" i="0" u="none" strike="noStrike">
                <a:solidFill>
                  <a:srgbClr val="141A33"/>
                </a:solidFill>
                <a:latin typeface="+mn-lt"/>
              </a:rPr>
              <a:t>Messages that need a warning: which layer flagged them</a:t>
            </a:r>
          </a:p>
        </c:rich>
      </c:tx>
      <c:layout/>
      <c:overlay val="0"/>
    </c:title>
    <c:autoTitleDeleted val="0"/>
    <c:plotArea>
      <c:layout/>
      <c:barChart>
        <c:barDir val="col"/>
        <c:grouping val="clustered"/>
        <c:varyColors val="0"/>
        <c:ser>
          <c:idx val="0"/>
          <c:order val="0"/>
          <c:tx>
            <c:strRef>
              <c:f>Sheet1!$B$1</c:f>
              <c:strCache>
                <c:ptCount val="1"/>
                <c:pt idx="0">
                  <c:v>Both</c:v>
                </c:pt>
              </c:strCache>
            </c:strRef>
          </c:tx>
          <c:spPr>
            <a:solidFill>
              <a:srgbClr val="3B4CCA"/>
            </a:solidFill>
            <a:effectLst/>
          </c:spPr>
          <c:invertIfNegative val="0"/>
          <c:dLbls>
            <c:numFmt formatCode="0%" sourceLinked="0"/>
            <c:txPr>
              <a:bodyPr/>
              <a:lstStyle/>
              <a:p>
                <a:pPr>
                  <a:defRPr b="0" i="0" strike="noStrike" sz="1200" u="none">
                    <a:solidFill>
                      <a:srgbClr val="141A33"/>
                    </a:solidFill>
                    <a:latin typeface="+mn-lt"/>
                  </a:defRPr>
                </a:pPr>
              </a:p>
            </c:txPr>
            <c:showLegendKey val="0"/>
            <c:showVal val="1"/>
            <c:showCatName val="0"/>
            <c:showSerName val="0"/>
            <c:showPercent val="0"/>
            <c:showBubbleSize val="0"/>
            <c:showLeaderLines val="0"/>
          </c:dLbls>
          <c:cat>
            <c:multiLvlStrRef>
              <c:f>Sheet1!$A$2:$A$4</c:f>
              <c:multiLvlStrCache>
                <c:ptCount val="3"/>
                <c:lvl>
                  <c:pt idx="0">
                    <c:v>Synthetic (100)</c:v>
                  </c:pt>
                  <c:pt idx="1">
                    <c:v>Real English e-mail (164)</c:v>
                  </c:pt>
                  <c:pt idx="2">
                    <c:v>Real Turkish SMS (15)</c:v>
                  </c:pt>
                </c:lvl>
              </c:multiLvlStrCache>
            </c:multiLvlStrRef>
          </c:cat>
          <c:val>
            <c:numRef>
              <c:f>Sheet1!$B$2:$B$4</c:f>
              <c:numCache>
                <c:formatCode>General</c:formatCode>
                <c:ptCount val="3"/>
                <c:pt idx="0">
                  <c:v>0.44</c:v>
                </c:pt>
                <c:pt idx="1">
                  <c:v>0.1402439024390244</c:v>
                </c:pt>
                <c:pt idx="2">
                  <c:v>0.26666666666666666</c:v>
                </c:pt>
              </c:numCache>
            </c:numRef>
          </c:val>
        </c:ser>
        <c:ser>
          <c:idx val="1"/>
          <c:order val="1"/>
          <c:tx>
            <c:strRef>
              <c:f>Sheet1!$C$1</c:f>
              <c:strCache>
                <c:ptCount val="1"/>
                <c:pt idx="0">
                  <c:v>Rules only</c:v>
                </c:pt>
              </c:strCache>
            </c:strRef>
          </c:tx>
          <c:spPr>
            <a:solidFill>
              <a:srgbClr val="E8642C"/>
            </a:solidFill>
            <a:effectLst/>
          </c:spPr>
          <c:invertIfNegative val="0"/>
          <c:dLbls>
            <c:numFmt formatCode="0%" sourceLinked="0"/>
            <c:txPr>
              <a:bodyPr/>
              <a:lstStyle/>
              <a:p>
                <a:pPr>
                  <a:defRPr b="0" i="0" strike="noStrike" sz="1200" u="none">
                    <a:solidFill>
                      <a:srgbClr val="141A33"/>
                    </a:solidFill>
                    <a:latin typeface="+mn-lt"/>
                  </a:defRPr>
                </a:pPr>
              </a:p>
            </c:txPr>
            <c:showLegendKey val="0"/>
            <c:showVal val="1"/>
            <c:showCatName val="0"/>
            <c:showSerName val="0"/>
            <c:showPercent val="0"/>
            <c:showBubbleSize val="0"/>
            <c:showLeaderLines val="0"/>
          </c:dLbls>
          <c:cat>
            <c:multiLvlStrRef>
              <c:f>Sheet1!$A$2:$A$4</c:f>
              <c:multiLvlStrCache>
                <c:ptCount val="3"/>
                <c:lvl>
                  <c:pt idx="0">
                    <c:v>Synthetic (100)</c:v>
                  </c:pt>
                  <c:pt idx="1">
                    <c:v>Real English e-mail (164)</c:v>
                  </c:pt>
                  <c:pt idx="2">
                    <c:v>Real Turkish SMS (15)</c:v>
                  </c:pt>
                </c:lvl>
              </c:multiLvlStrCache>
            </c:multiLvlStrRef>
          </c:cat>
          <c:val>
            <c:numRef>
              <c:f>Sheet1!$C$2:$C$4</c:f>
              <c:numCache>
                <c:formatCode>General</c:formatCode>
                <c:ptCount val="3"/>
                <c:pt idx="0">
                  <c:v>0.09</c:v>
                </c:pt>
                <c:pt idx="1">
                  <c:v>0</c:v>
                </c:pt>
                <c:pt idx="2">
                  <c:v>0</c:v>
                </c:pt>
              </c:numCache>
            </c:numRef>
          </c:val>
        </c:ser>
        <c:ser>
          <c:idx val="2"/>
          <c:order val="2"/>
          <c:tx>
            <c:strRef>
              <c:f>Sheet1!$D$1</c:f>
              <c:strCache>
                <c:ptCount val="1"/>
                <c:pt idx="0">
                  <c:v>AI analyst only</c:v>
                </c:pt>
              </c:strCache>
            </c:strRef>
          </c:tx>
          <c:spPr>
            <a:solidFill>
              <a:srgbClr val="0E9384"/>
            </a:solidFill>
            <a:effectLst/>
          </c:spPr>
          <c:invertIfNegative val="0"/>
          <c:dLbls>
            <c:numFmt formatCode="0%" sourceLinked="0"/>
            <c:txPr>
              <a:bodyPr/>
              <a:lstStyle/>
              <a:p>
                <a:pPr>
                  <a:defRPr b="0" i="0" strike="noStrike" sz="1200" u="none">
                    <a:solidFill>
                      <a:srgbClr val="141A33"/>
                    </a:solidFill>
                    <a:latin typeface="+mn-lt"/>
                  </a:defRPr>
                </a:pPr>
              </a:p>
            </c:txPr>
            <c:showLegendKey val="0"/>
            <c:showVal val="1"/>
            <c:showCatName val="0"/>
            <c:showSerName val="0"/>
            <c:showPercent val="0"/>
            <c:showBubbleSize val="0"/>
            <c:showLeaderLines val="0"/>
          </c:dLbls>
          <c:cat>
            <c:multiLvlStrRef>
              <c:f>Sheet1!$A$2:$A$4</c:f>
              <c:multiLvlStrCache>
                <c:ptCount val="3"/>
                <c:lvl>
                  <c:pt idx="0">
                    <c:v>Synthetic (100)</c:v>
                  </c:pt>
                  <c:pt idx="1">
                    <c:v>Real English e-mail (164)</c:v>
                  </c:pt>
                  <c:pt idx="2">
                    <c:v>Real Turkish SMS (15)</c:v>
                  </c:pt>
                </c:lvl>
              </c:multiLvlStrCache>
            </c:multiLvlStrRef>
          </c:cat>
          <c:val>
            <c:numRef>
              <c:f>Sheet1!$D$2:$D$4</c:f>
              <c:numCache>
                <c:formatCode>General</c:formatCode>
                <c:ptCount val="3"/>
                <c:pt idx="0">
                  <c:v>0.21</c:v>
                </c:pt>
                <c:pt idx="1">
                  <c:v>0.8475609756097561</c:v>
                </c:pt>
                <c:pt idx="2">
                  <c:v>0.5333333333333333</c:v>
                </c:pt>
              </c:numCache>
            </c:numRef>
          </c:val>
        </c:ser>
        <c:ser>
          <c:idx val="3"/>
          <c:order val="3"/>
          <c:tx>
            <c:strRef>
              <c:f>Sheet1!$E$1</c:f>
              <c:strCache>
                <c:ptCount val="1"/>
                <c:pt idx="0">
                  <c:v>Neither</c:v>
                </c:pt>
              </c:strCache>
            </c:strRef>
          </c:tx>
          <c:spPr>
            <a:solidFill>
              <a:srgbClr val="9AA3BD"/>
            </a:solidFill>
            <a:effectLst/>
          </c:spPr>
          <c:invertIfNegative val="0"/>
          <c:dLbls>
            <c:numFmt formatCode="0%" sourceLinked="0"/>
            <c:txPr>
              <a:bodyPr/>
              <a:lstStyle/>
              <a:p>
                <a:pPr>
                  <a:defRPr b="0" i="0" strike="noStrike" sz="1200" u="none">
                    <a:solidFill>
                      <a:srgbClr val="141A33"/>
                    </a:solidFill>
                    <a:latin typeface="+mn-lt"/>
                  </a:defRPr>
                </a:pPr>
              </a:p>
            </c:txPr>
            <c:showLegendKey val="0"/>
            <c:showVal val="1"/>
            <c:showCatName val="0"/>
            <c:showSerName val="0"/>
            <c:showPercent val="0"/>
            <c:showBubbleSize val="0"/>
            <c:showLeaderLines val="0"/>
          </c:dLbls>
          <c:cat>
            <c:multiLvlStrRef>
              <c:f>Sheet1!$A$2:$A$4</c:f>
              <c:multiLvlStrCache>
                <c:ptCount val="3"/>
                <c:lvl>
                  <c:pt idx="0">
                    <c:v>Synthetic (100)</c:v>
                  </c:pt>
                  <c:pt idx="1">
                    <c:v>Real English e-mail (164)</c:v>
                  </c:pt>
                  <c:pt idx="2">
                    <c:v>Real Turkish SMS (15)</c:v>
                  </c:pt>
                </c:lvl>
              </c:multiLvlStrCache>
            </c:multiLvlStrRef>
          </c:cat>
          <c:val>
            <c:numRef>
              <c:f>Sheet1!$E$2:$E$4</c:f>
              <c:numCache>
                <c:formatCode>General</c:formatCode>
                <c:ptCount val="3"/>
                <c:pt idx="0">
                  <c:v>0.26</c:v>
                </c:pt>
                <c:pt idx="1">
                  <c:v>0.012195121951219513</c:v>
                </c:pt>
                <c:pt idx="2">
                  <c:v>0.2</c:v>
                </c:pt>
              </c:numCache>
            </c:numRef>
          </c:val>
        </c:ser>
        <c:dLbls>
          <c:numFmt formatCode="0%" sourceLinked="0"/>
          <c:txPr>
            <a:bodyPr/>
            <a:lstStyle/>
            <a:p>
              <a:pPr>
                <a:defRPr b="0" i="0" strike="noStrike" sz="1200" u="none">
                  <a:solidFill>
                    <a:srgbClr val="141A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CEDD"/>
            </a:solidFill>
            <a:prstDash val="solid"/>
            <a:round/>
          </a:ln>
        </c:spPr>
        <c:txPr>
          <a:bodyPr/>
          <a:lstStyle/>
          <a:p>
            <a:pPr>
              <a:defRPr sz="1200" b="0" i="0" u="none" strike="noStrike">
                <a:solidFill>
                  <a:srgbClr val="141A33"/>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2E5EF"/>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380"/>
                </a:solidFill>
                <a:latin typeface="+mn-lt"/>
              </a:defRPr>
            </a:pPr>
            <a:endParaRPr lang="en-US"/>
          </a:p>
        </c:txPr>
        <c:crossAx val="2094734554"/>
        <c:crosses val="autoZero"/>
        <c:crossBetween val="between"/>
        <c:majorUnit val="0.25"/>
      </c:valAx>
      <c:spPr>
        <a:noFill/>
        <a:ln>
          <a:noFill/>
        </a:ln>
        <a:effectLst/>
      </c:spPr>
    </c:plotArea>
    <c:legend>
      <c:legendPos val="b"/>
      <c:overlay val="0"/>
      <c:txPr>
        <a:bodyPr/>
        <a:lstStyle/>
        <a:p>
          <a:pPr>
            <a:defRPr sz="1200">
              <a:solidFill>
                <a:srgbClr val="141A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TrustGate checks a message, a payment request or a link for scam and impersonation risk at the last useful moment: before money moves.
Challenge area: 'Detection of deepfakes, misinformation, scams and social-engineering campaigns'. Its AI-agent mode also answers 'Agentic AI for cyber defence with human oversight'.
Everything in this deck is either in the live demo or measured in the evaluation report (eval/README.md in the repository). All people, companies and numbers in the examples are fictional.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Fraud is industrial-scale, and generative AI removes the old tells: spelling mistakes, odd phrasing, unknown faces. The Arup case shows the end state: a video call full of deepfaked colleagues, followed by 15 transfers. Yet every one of these scams ends with the same request: pay a new account, act now, keep it secret, read out a code, click a link. That request is what TrustGate checks. We deliberately do not try to tell whether a text was written by AI: that is unreliable, and legitimate messages are increasingly AI-written too.
SOURCES
- US FTC testimony to the Joint Economic Committee, 25 March 2026: 3 million fraud reports and $15.9 billion in reported losses in 2025; imposter scams over $3.5 billion; investment scams $7.9 billion. https://www.ftc.gov/system/files/ftc_gov/pdf/ftc-testimony-jec-hearing-on-the-rising-scam-economy.pdf
- UK Finance, Annual Fraud Report 2026 (2025 data): authorised push payment fraud losses £576.4 million, up 19%, across 248,070 cases; total payment fraud about £1.28 billion. https://www.ukfinance.org.uk/system/files/2026-06/UK%20Finance%20Fraud%20Report%202026.pdf
- CNN Business, 16 May 2024: Arup confirmed it lost HK$200 million (about US$25.6 million) in 15 transfers after a video call with deepfaked colleagues. Syndicated copy: https://abc17news.com/money/cnn-business-consumer/2024/05/16/british-engineering-giant-arup-revealed-as-25-million-deepfake-scam-victim/
- Optional context: Deloitte Center for Financial Services (2024) projects that generative AI could push US fraud losses from $12.3 billion in 2023 to $40 billion by 2027. https://www.deloitte.com/us/en/insights/industry/financial-services/deepfake-banking-fraud-risk-on-the-rise.html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TrustGate takes whatever the user has: the message text, and optionally the sender, the links and the payment details. It answers with a score, a verdict and an action a payment flow can use directly: proceed, hold or block.
Every red flag is highlighted on the original text. The next steps are specific to the scam type: for a fake bank call, ring the number on the back of your card. One button writes a warning the user can forward to family or colleagues who may have received the same message.
It reads English and Turkish. It looks at tactics, not authorship: it never claims to detect AI-written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layers, each with its own signal.
1. Rules and static link analysis: deterministic patterns for tactics (pressure, secrecy, changed bank details, gift cards, one-time codes, instructions aimed at AI) plus checks on the sender, the payee and the links: look-alike domains, punycode, brand names hidden in subdomains, shorteners. Links are analysed as text only; TrustGate never visits them.
2. Text classifier: TF-IDF with logistic regression, trained on open spam corpora. English only, so it is skipped for Turkish.
3. AI analyst: Qwen2.5-14B-Instruct through an OpenAI-compatible API (Featherless). It sees the message fenced as untrusted data, together with the other layers' findings, and must return schema-validated JSON.
Fusion: a weighted average (rules 0.45, classifier 0.20, analyst 0.35) and floors. A critical rule combination, such as changed bank details plus pressure, cannot be averaged away, and a confident analyst (score 70 or more) holds the payment even when the rules saw nothing.
Injection shield: hidden text is revealed and flagged, every answer must echo a random integrity code, and when a message tries to instruct AI the analyst may only raise the risk.
Speed (measured, median processing time): about 50 ms for the instant answer, about 7 s for the full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app with the 'Dangerous' example: a fake bank-security text. The score is 95 out of 100 and the action is 'do not pay or reply'. The scam type is named in plain words. The steps are specific: call the number on the back of your card. Every red flag is highlighted on the original text, colour-coded by severity, and the 'Warn family or colleagues' button writes a short warning in the message's language.
The demo runs on a free Render instance kept awake by an uptime monitor. If it has fallen asleep, the first request takes about a minute; a backup demo video is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WE MEASURED: the deployed version was run once on 1,219 messages it had never seen.
- Real: 400 English e-mails from the TREC 2007 public corpus (via a CC BY 4.0 collection on Hugging Face), and 669 Turkish SMS (Uysal et al., 2013; used for measurement only, never published).
- Synthetic: 150 cases written for this test by separate AI agents with no access to the code, balanced across three labels, English and Turkish, SMS, WhatsApp and e-mail. Reported separately from the real data.
- Leakage: every message was compared with the classifier's 23,672 training texts (exact and near-duplicate check); none had to be removed.
- Labels follow a written rubric. Independent AI labellers labelled the real data; a blind re-label of 10% by a second AI agreed on 97% (Cohen's kappa 0.93). No human has checked the labels yet.
WHAT IT SHOWS: scams are almost always flagged (47 of 48 real, 49 of 50 synthetic). Real 'check first' messages are mostly caught (123 of 133), but only 20 of 50 subtle synthetic ones. False alarms hit 11.5% of safe real messages, mostly commercial spam; about one legitimate message in twenty.
Speed: median processing time 46 ms for the instant answer and 6.6 s for the full one, measured off-platform. Cost: about 1,060 prompt and 200 completion tokens per check, $0.25 to $0.65 per 1,000 checks at Fireworks AI and Alibaba Cloud list prices; the deployed app uses a flat Featherless subscription.
Per-layer precision, recall and F1 with 95% intervals, by language and channel: eval/README.md, branch claude/trustgate-fraud-detection-omu0pl.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see what each layer adds, we compared two independent detectors: the rules, and the AI analyst run on the message alone. On the synthetic set, the rules caught 9 of the 100 messages that need a warning that the AI alone missed, mostly link and payee checks, and the AI caught 21 the rules missed. On real English e-mail the AI analyst does almost all the catching; there the rules add precision and speed (the instant rules + classifier answer: precision 0.88, 6% false alarms).
Both examples are synthetic, with invented names:
- A polite courier SMS whose link puts the courier's name in the subdomain of an unrelated domain. The AI alone scored it 20. Static link analysis flagged it, the analyst raised its score to 60 once it saw that finding, and the system said suspicious (50).
- 'Reply with the 6-digit code to cancel the payment.' No rule fired; the AI analyst scored it 70 as bank impersonation; the system said suspicious (43).
Feeding the analyst the rules' findings also helps on average: recall 0.65 to 0.80 on the synthetic set, false alarms 159 to 119 of 874 on real messages. It can also anchor the analyst down; that is on the weak-points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agents now read messages and pay on our behalf, and a message can try to instruct the agent. In TrustGate's agent mode, the agent sends the message and the payment details with initiator set to ai_agent before paying. 'Proceed' lets it continue; 'hold' pauses the agent and asks the account owner to confirm; 'block' stops the payment.
The screenshot is a checkout message that tells AI shopping assistants to ignore their instructions and pay a new account. TrustGate treats the instruction itself as evidence and tells the agent to stop and ask the owner. Human oversight is built in: a risky payment is never left to the agent alone.
Evidence: in an earlier blind round, all 12 prompt-injection attacks across our attack taxonomy were held or blocked, including 3 that fooled the AI analyst. In this evaluation, 10 of 11 risky agent cases were flagged and none of the 6 safe ones were: a small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tools are English-only, and Turkish scams look different: 'Annecim, telefonum bozuldu, bu yeni numaram', IBAN transfers, and messages typed without Turkish letters. TrustGate has its own Turkish patterns for the same tactics, with letter folding so phone-typed text matches.
On the synthetic set, Turkish scores F1 0.80 against 0.78 for English, and 24 of 25 Turkish scams were flagged. On real Turkish SMS, 11 of the 15 that needed a warning were flagged, with false alarms on 10.9% of the rest, mostly marketing.
A gap we found: the language detector took 23% of real Turkish SMS for English, so the English-only classifier scored them. The effect on verdicts was small (its weight is 0.20), and a better detector is on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and safety were design constraints from the start.
- Links are analysed as strings; TrustGate never opens, resolves or downloads them, and the test suite blocks network access to prove it.
- No message contents are logged: only verdicts, scores and timings.
- Every user-supplied field is treated as untrusted: fenced in the prompt, scanned for instructions aimed at AI, rendered as text in the UI, with a strict Content-Security-Policy and size limits.
- No secrets in the code. The LLM endpoint comes from the environment and can be any OpenAI-compatible server, including a self-hosted one. In live mode the message text goes to that provider; TrustGate itself stores nothing.
- We do not claim to detect AI-written text.
- The evaluation never publishes real messages: only ids, labels and hashes are committed.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report what does not work yet, with the numbers.
- Subtle 'check first' messages: only 20 of 50 synthetic ones were flagged. Most look harmless to both the rules and the analyst: unsolicited offers, deposits to third parties, bank-detail changes from a known contact.
- Scams are flagged but under-graded: 47 of 48 real scams got a warning, but only 7 were called dangerous, because averaging pulls a confident analyst down.
- False alarms on 11.5% of safe real messages, mostly commercial spam; about 5% of legitimate personal and business messages.
- A bank's fraud-awareness newsletter was graded dangerous: the rules fired on the very scam phrases it warns about, and their floor overrode the analyst's correct 'safe'.
- The language detector missed 23% of real Turkish SMS.
The evaluation itself: labels come from AI agents and a second AI pass, with no human check yet; there is no real WhatsApp data; the real Turkish set dates from about 2011 and is almost all safe; synthetic cases may be cleaner than real scams; it was one run, and latency was measured off-platform. Details: eval/README.md.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final, three steps.
FIX: give the rules and the analyst explicit 'verify first' signals; let a confident analyst backed by a rule finding raise the verdict to dangerous; teach the system what legitimate marketing looks like and narrow the gift-card rule; make the rules aware of negation ('we will never ask you to...'); replace the language heuristic; retry a malformed AI answer once.
PROVE: tune only on separate development data, have a human check 50 labels, then re-run the frozen test set once and report both runs side by side.
PLUG IN: a PayPal sandbox flow where the order is authorised first and TrustGate's action decides: proceed captures, hold asks the owner, block voids. Then a browser and mail extension, and a feedback button to grow a modern labelled dataset.
Thank you. The live demo and the code are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G 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9601200" cy="105156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548640" y="3154680"/>
            <a:ext cx="9601200" cy="640080"/>
          </a:xfrm>
          <a:prstGeom prst="rect">
            <a:avLst/>
          </a:prstGeom>
          <a:noFill/>
          <a:ln/>
        </p:spPr>
        <p:txBody>
          <a:bodyPr wrap="square" rtlCol="0"/>
          <a:lstStyle>
            <a:lvl1pPr indent="0" marL="0">
              <a:buNone/>
              <a:defRPr lang="en-US" sz="2800" dirty="0">
                <a:solidFill>
                  <a:schemeClr val="bg2"/>
                </a:solidFill>
              </a:defRPr>
            </a:lvl1pPr>
          </a:lstStyle>
          <a:p>
            <a:pPr indent="0" marL="0">
              <a:buNone/>
            </a:pPr>
            <a:endParaRPr lang="en-US" sz="2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G 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58368"/>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ph idx="101" type="body" hasCustomPrompt="1"/>
          </p:nvPr>
        </p:nvSpPr>
        <p:spPr>
          <a:xfrm>
            <a:off x="548640" y="1005840"/>
            <a:ext cx="11094415" cy="411480"/>
          </a:xfrm>
          <a:prstGeom prst="rect">
            <a:avLst/>
          </a:prstGeom>
          <a:noFill/>
          <a:ln/>
        </p:spPr>
        <p:txBody>
          <a:bodyPr wrap="square" rtlCol="0"/>
          <a:lstStyle>
            <a:lvl1pPr indent="0" marL="0">
              <a:buNone/>
              <a:defRPr lang="en-US" sz="1700" dirty="0">
                <a:solidFill>
                  <a:schemeClr val="accent6"/>
                </a:solidFill>
              </a:defRPr>
            </a:lvl1pPr>
          </a:lstStyle>
          <a:p>
            <a:pPr indent="0" marL="0">
              <a:buNone/>
            </a:pPr>
            <a:endParaRPr lang="en-US" sz="1700" dirty="0"/>
          </a:p>
        </p:txBody>
      </p:sp>
      <p:sp>
        <p:nvSpPr>
          <p:cNvPr id="4" name="Text 0"/>
          <p:cNvSpPr/>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chemeClr val="accent6"/>
                </a:solidFill>
              </a:rPr>
              <a:t>TrustGate  ·  University of Derby Cyber AI Hackathon 2026</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G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58368"/>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ph idx="101" type="body" hasCustomPrompt="1"/>
          </p:nvPr>
        </p:nvSpPr>
        <p:spPr>
          <a:xfrm>
            <a:off x="548640" y="1005840"/>
            <a:ext cx="11094415" cy="411480"/>
          </a:xfrm>
          <a:prstGeom prst="rect">
            <a:avLst/>
          </a:prstGeom>
          <a:noFill/>
          <a:ln/>
        </p:spPr>
        <p:txBody>
          <a:bodyPr wrap="square" rtlCol="0"/>
          <a:lstStyle>
            <a:lvl1pPr indent="0" marL="0">
              <a:buNone/>
              <a:defRPr lang="en-US" sz="1700" dirty="0">
                <a:solidFill>
                  <a:schemeClr val="bg2"/>
                </a:solidFill>
              </a:defRPr>
            </a:lvl1pPr>
          </a:lstStyle>
          <a:p>
            <a:pPr indent="0" marL="0">
              <a:buNone/>
            </a:pPr>
            <a:endParaRPr lang="en-US" sz="1700" dirty="0"/>
          </a:p>
        </p:txBody>
      </p:sp>
      <p:sp>
        <p:nvSpPr>
          <p:cNvPr id="4" name="Text 0"/>
          <p:cNvSpPr/>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chemeClr val="bg2"/>
                </a:solidFill>
              </a:rPr>
              <a:t>TrustGate  ·  University of Derby Cyber AI Hackathon 2026</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ield circle"/>
          <p:cNvSpPr/>
          <p:nvPr/>
        </p:nvSpPr>
        <p:spPr>
          <a:xfrm>
            <a:off x="548640" y="914400"/>
            <a:ext cx="868680" cy="868680"/>
          </a:xfrm>
          <a:prstGeom prst="ellipse">
            <a:avLst/>
          </a:prstGeom>
          <a:solidFill>
            <a:schemeClr val="accent1"/>
          </a:solidFill>
          <a:ln/>
        </p:spPr>
      </p:sp>
      <p:pic>
        <p:nvPicPr>
          <p:cNvPr id="3" name="Shield icon" descr="preencoded.png">    </p:cNvPr>
          <p:cNvPicPr>
            <a:picLocks noChangeAspect="1"/>
          </p:cNvPicPr>
          <p:nvPr/>
        </p:nvPicPr>
        <p:blipFill>
          <a:blip r:embed="rId1"/>
          <a:stretch>
            <a:fillRect/>
          </a:stretch>
        </p:blipFill>
        <p:spPr>
          <a:xfrm>
            <a:off x="757123" y="1122883"/>
            <a:ext cx="451714" cy="451714"/>
          </a:xfrm>
          <a:prstGeom prst="rect">
            <a:avLst/>
          </a:prstGeom>
        </p:spPr>
      </p:pic>
      <p:sp>
        <p:nvSpPr>
          <p:cNvPr id="4" name="Text 0"/>
          <p:cNvSpPr/>
          <p:nvPr>
            <p:ph idx="100" type="title" hasCustomPrompt="1"/>
          </p:nvPr>
        </p:nvSpPr>
        <p:spPr>
          <a:xfrm>
            <a:off x="548640" y="2011680"/>
            <a:ext cx="9601200" cy="1051560"/>
          </a:xfrm>
          <a:prstGeom prst="rect">
            <a:avLst/>
          </a:prstGeom>
          <a:noFill/>
          <a:ln/>
        </p:spPr>
        <p:txBody>
          <a:bodyPr wrap="square" lIns="0" tIns="0" rIns="0" bIns="0" rtlCol="0" anchor="b"/>
          <a:lstStyle/>
          <a:p>
            <a:pPr algn="l" indent="0" marL="0">
              <a:buNone/>
            </a:pPr>
            <a:r>
              <a:rPr lang="en-US" sz="6000" b="1" dirty="0">
                <a:solidFill>
                  <a:schemeClr val="bg1"/>
                </a:solidFill>
              </a:rPr>
              <a:t>TrustGate</a:t>
            </a:r>
            <a:endParaRPr lang="en-US" sz="6000" dirty="0"/>
          </a:p>
        </p:txBody>
      </p:sp>
      <p:sp>
        <p:nvSpPr>
          <p:cNvPr id="5" name="Text 0"/>
          <p:cNvSpPr/>
          <p:nvPr>
            <p:ph idx="101" type="body" hasCustomPrompt="1"/>
          </p:nvPr>
        </p:nvSpPr>
        <p:spPr>
          <a:xfrm>
            <a:off x="548640" y="3154680"/>
            <a:ext cx="9601200" cy="640080"/>
          </a:xfrm>
          <a:prstGeom prst="rect">
            <a:avLst/>
          </a:prstGeom>
          <a:noFill/>
          <a:ln/>
        </p:spPr>
        <p:txBody>
          <a:bodyPr wrap="square" lIns="0" tIns="0" rIns="0" bIns="0" rtlCol="0" anchor="t"/>
          <a:lstStyle/>
          <a:p>
            <a:pPr indent="0" marL="0">
              <a:buNone/>
            </a:pPr>
            <a:r>
              <a:rPr lang="en-US" sz="2800" dirty="0">
                <a:solidFill>
                  <a:schemeClr val="bg2"/>
                </a:solidFill>
              </a:rPr>
              <a:t>Verify before money moves.</a:t>
            </a:r>
            <a:endParaRPr lang="en-US" sz="2800" dirty="0"/>
          </a:p>
        </p:txBody>
      </p:sp>
      <p:sp>
        <p:nvSpPr>
          <p:cNvPr id="6" name="Text 3"/>
          <p:cNvSpPr txBox="1"/>
          <p:nvPr/>
        </p:nvSpPr>
        <p:spPr>
          <a:xfrm>
            <a:off x="548640" y="3886200"/>
            <a:ext cx="9326880" cy="822960"/>
          </a:xfrm>
          <a:prstGeom prst="rect">
            <a:avLst/>
          </a:prstGeom>
          <a:noFill/>
          <a:ln/>
        </p:spPr>
        <p:txBody>
          <a:bodyPr wrap="square" lIns="0" tIns="0" rIns="0" bIns="0" rtlCol="0" anchor="t"/>
          <a:lstStyle/>
          <a:p>
            <a:pPr indent="0" marL="0">
              <a:buNone/>
            </a:pPr>
            <a:r>
              <a:rPr lang="en-US" sz="1900" dirty="0">
                <a:solidFill>
                  <a:schemeClr val="bg1"/>
                </a:solidFill>
              </a:rPr>
              <a:t>A layered check that flags scam and social-engineering messages before anyone pays: rules, a text classifier and an AI analyst, in English and Turkish.</a:t>
            </a:r>
            <a:endParaRPr lang="en-US" sz="1900" dirty="0"/>
          </a:p>
        </p:txBody>
      </p:sp>
      <p:sp>
        <p:nvSpPr>
          <p:cNvPr id="7" name="Challenge area"/>
          <p:cNvSpPr/>
          <p:nvPr/>
        </p:nvSpPr>
        <p:spPr>
          <a:xfrm>
            <a:off x="548640" y="4983480"/>
            <a:ext cx="8869680" cy="566928"/>
          </a:xfrm>
          <a:prstGeom prst="roundRect">
            <a:avLst>
              <a:gd name="adj" fmla="val 50000"/>
            </a:avLst>
          </a:prstGeom>
          <a:solidFill>
            <a:schemeClr val="accent1">
              <a:alpha val="65000"/>
            </a:schemeClr>
          </a:solidFill>
          <a:ln/>
        </p:spPr>
      </p:sp>
      <p:sp>
        <p:nvSpPr>
          <p:cNvPr id="8" name="Text 5"/>
          <p:cNvSpPr txBox="1"/>
          <p:nvPr/>
        </p:nvSpPr>
        <p:spPr>
          <a:xfrm>
            <a:off x="804672" y="4983480"/>
            <a:ext cx="8412480" cy="566928"/>
          </a:xfrm>
          <a:prstGeom prst="rect">
            <a:avLst/>
          </a:prstGeom>
          <a:noFill/>
          <a:ln/>
        </p:spPr>
        <p:txBody>
          <a:bodyPr wrap="square" lIns="0" tIns="0" rIns="0" bIns="0" rtlCol="0" anchor="ctr"/>
          <a:lstStyle/>
          <a:p>
            <a:pPr indent="0" marL="0">
              <a:buNone/>
            </a:pPr>
            <a:r>
              <a:rPr lang="en-US" sz="1400" b="1" dirty="0">
                <a:solidFill>
                  <a:schemeClr val="bg1"/>
                </a:solidFill>
              </a:rPr>
              <a:t>Challenge area  </a:t>
            </a:r>
            <a:pPr indent="0" marL="0">
              <a:buNone/>
            </a:pPr>
            <a:r>
              <a:rPr lang="en-US" sz="1400" dirty="0">
                <a:solidFill>
                  <a:schemeClr val="bg1"/>
                </a:solidFill>
              </a:rPr>
              <a:t>Detection of deepfakes, misinformation, scams and social-engineering campaigns</a:t>
            </a:r>
            <a:endParaRPr lang="en-US" sz="1400" dirty="0"/>
          </a:p>
        </p:txBody>
      </p:sp>
      <p:sp>
        <p:nvSpPr>
          <p:cNvPr id="9" name="Also"/>
          <p:cNvSpPr/>
          <p:nvPr/>
        </p:nvSpPr>
        <p:spPr>
          <a:xfrm>
            <a:off x="548640" y="5641848"/>
            <a:ext cx="6172200" cy="566928"/>
          </a:xfrm>
          <a:prstGeom prst="roundRect">
            <a:avLst>
              <a:gd name="adj" fmla="val 50000"/>
            </a:avLst>
          </a:prstGeom>
          <a:solidFill>
            <a:schemeClr val="accent1">
              <a:alpha val="40000"/>
            </a:schemeClr>
          </a:solidFill>
          <a:ln/>
        </p:spPr>
      </p:sp>
      <p:sp>
        <p:nvSpPr>
          <p:cNvPr id="10" name="Text 7"/>
          <p:cNvSpPr txBox="1"/>
          <p:nvPr/>
        </p:nvSpPr>
        <p:spPr>
          <a:xfrm>
            <a:off x="804672" y="5641848"/>
            <a:ext cx="5715000" cy="566928"/>
          </a:xfrm>
          <a:prstGeom prst="rect">
            <a:avLst/>
          </a:prstGeom>
          <a:noFill/>
          <a:ln/>
        </p:spPr>
        <p:txBody>
          <a:bodyPr wrap="square" lIns="0" tIns="0" rIns="0" bIns="0" rtlCol="0" anchor="ctr"/>
          <a:lstStyle/>
          <a:p>
            <a:pPr indent="0" marL="0">
              <a:buNone/>
            </a:pPr>
            <a:r>
              <a:rPr lang="en-US" sz="1400" b="1" dirty="0">
                <a:solidFill>
                  <a:schemeClr val="bg1"/>
                </a:solidFill>
              </a:rPr>
              <a:t>Also  </a:t>
            </a:r>
            <a:pPr indent="0" marL="0">
              <a:buNone/>
            </a:pPr>
            <a:r>
              <a:rPr lang="en-US" sz="1400" dirty="0">
                <a:solidFill>
                  <a:schemeClr val="bg1"/>
                </a:solidFill>
              </a:rPr>
              <a:t>Agentic AI for cyber defence with human oversight</a:t>
            </a:r>
            <a:endParaRPr lang="en-US" sz="1400" dirty="0"/>
          </a:p>
        </p:txBody>
      </p:sp>
      <p:sp>
        <p:nvSpPr>
          <p:cNvPr id="11" name="Text 8"/>
          <p:cNvSpPr txBox="1"/>
          <p:nvPr/>
        </p:nvSpPr>
        <p:spPr>
          <a:xfrm>
            <a:off x="548640" y="6355080"/>
            <a:ext cx="8229600" cy="274320"/>
          </a:xfrm>
          <a:prstGeom prst="rect">
            <a:avLst/>
          </a:prstGeom>
          <a:noFill/>
          <a:ln/>
        </p:spPr>
        <p:txBody>
          <a:bodyPr wrap="square" lIns="0" tIns="0" rIns="0" bIns="0" rtlCol="0" anchor="t"/>
          <a:lstStyle/>
          <a:p>
            <a:pPr indent="0" marL="0">
              <a:buNone/>
            </a:pPr>
            <a:r>
              <a:rPr lang="en-US" sz="1200" dirty="0">
                <a:solidFill>
                  <a:schemeClr val="bg2"/>
                </a:solidFill>
              </a:rPr>
              <a:t>Round 1 · solo entry · live demo: trustgate-k45p.onrender.com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58368"/>
          </a:xfrm>
          <a:prstGeom prst="rect">
            <a:avLst/>
          </a:prstGeom>
          <a:noFill/>
          <a:ln/>
        </p:spPr>
        <p:txBody>
          <a:bodyPr wrap="square" lIns="0" tIns="0" rIns="0" bIns="0" rtlCol="0" anchor="ctr"/>
          <a:lstStyle/>
          <a:p>
            <a:pPr algn="l" indent="0" marL="0">
              <a:buNone/>
            </a:pPr>
            <a:r>
              <a:rPr lang="en-US" sz="3400" b="1" dirty="0">
                <a:solidFill>
                  <a:schemeClr val="tx1"/>
                </a:solidFill>
              </a:rPr>
              <a:t>Scams no longer look like scams</a:t>
            </a:r>
            <a:endParaRPr lang="en-US" sz="34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indent="0" marL="0">
              <a:buNone/>
            </a:pPr>
            <a:r>
              <a:rPr lang="en-US" sz="1700" dirty="0">
                <a:solidFill>
                  <a:schemeClr val="accent6"/>
                </a:solidFill>
              </a:rPr>
              <a:t>Generative AI perfects the voice, the face and the wording. The ask stays the same.</a:t>
            </a:r>
            <a:endParaRPr lang="en-US" sz="1700" dirty="0"/>
          </a:p>
        </p:txBody>
      </p:sp>
      <p:sp>
        <p:nvSpPr>
          <p:cNvPr id="4" name="Stat 1"/>
          <p:cNvSpPr/>
          <p:nvPr/>
        </p:nvSpPr>
        <p:spPr>
          <a:xfrm>
            <a:off x="548640" y="1691640"/>
            <a:ext cx="3529584" cy="2331720"/>
          </a:xfrm>
          <a:prstGeom prst="roundRect">
            <a:avLst>
              <a:gd name="adj" fmla="val 4706"/>
            </a:avLst>
          </a:prstGeom>
          <a:solidFill>
            <a:schemeClr val="bg2"/>
          </a:solidFill>
          <a:ln/>
        </p:spPr>
      </p:sp>
      <p:sp>
        <p:nvSpPr>
          <p:cNvPr id="5" name="Text 3"/>
          <p:cNvSpPr txBox="1"/>
          <p:nvPr/>
        </p:nvSpPr>
        <p:spPr>
          <a:xfrm>
            <a:off x="822960" y="1874520"/>
            <a:ext cx="3017520" cy="822960"/>
          </a:xfrm>
          <a:prstGeom prst="rect">
            <a:avLst/>
          </a:prstGeom>
          <a:noFill/>
          <a:ln/>
        </p:spPr>
        <p:txBody>
          <a:bodyPr wrap="square" lIns="0" tIns="0" rIns="0" bIns="0" rtlCol="0" anchor="t"/>
          <a:lstStyle/>
          <a:p>
            <a:pPr indent="0" marL="0">
              <a:buNone/>
            </a:pPr>
            <a:r>
              <a:rPr lang="en-US" sz="4600" b="1" dirty="0">
                <a:solidFill>
                  <a:schemeClr val="accent2"/>
                </a:solidFill>
                <a:latin typeface="+mj-lt" pitchFamily="34" charset="0"/>
                <a:ea typeface="+mj-lt" pitchFamily="34" charset="-122"/>
                <a:cs typeface="+mj-lt" pitchFamily="34" charset="-120"/>
              </a:rPr>
              <a:t>$15.9bn</a:t>
            </a:r>
            <a:endParaRPr lang="en-US" sz="4600" dirty="0"/>
          </a:p>
        </p:txBody>
      </p:sp>
      <p:sp>
        <p:nvSpPr>
          <p:cNvPr id="6" name="Text 4"/>
          <p:cNvSpPr txBox="1"/>
          <p:nvPr/>
        </p:nvSpPr>
        <p:spPr>
          <a:xfrm>
            <a:off x="822960" y="2724912"/>
            <a:ext cx="3017520" cy="822960"/>
          </a:xfrm>
          <a:prstGeom prst="rect">
            <a:avLst/>
          </a:prstGeom>
          <a:noFill/>
          <a:ln/>
        </p:spPr>
        <p:txBody>
          <a:bodyPr wrap="square" lIns="0" tIns="0" rIns="0" bIns="0" rtlCol="0" anchor="t"/>
          <a:lstStyle/>
          <a:p>
            <a:pPr indent="0" marL="0">
              <a:buNone/>
            </a:pPr>
            <a:r>
              <a:rPr lang="en-US" sz="1500" dirty="0">
                <a:solidFill>
                  <a:schemeClr val="tx1"/>
                </a:solidFill>
              </a:rPr>
              <a:t>reported to the US FTC as fraud losses in 2025, from 3 million reports</a:t>
            </a:r>
            <a:endParaRPr lang="en-US" sz="1500" dirty="0"/>
          </a:p>
        </p:txBody>
      </p:sp>
      <p:sp>
        <p:nvSpPr>
          <p:cNvPr id="7" name="Text 5"/>
          <p:cNvSpPr txBox="1"/>
          <p:nvPr/>
        </p:nvSpPr>
        <p:spPr>
          <a:xfrm>
            <a:off x="822960" y="3566160"/>
            <a:ext cx="3017520" cy="274320"/>
          </a:xfrm>
          <a:prstGeom prst="rect">
            <a:avLst/>
          </a:prstGeom>
          <a:noFill/>
          <a:ln/>
        </p:spPr>
        <p:txBody>
          <a:bodyPr wrap="square" lIns="0" tIns="0" rIns="0" bIns="0" rtlCol="0" anchor="t"/>
          <a:lstStyle/>
          <a:p>
            <a:pPr indent="0" marL="0">
              <a:buNone/>
            </a:pPr>
            <a:r>
              <a:rPr lang="en-US" sz="1100" dirty="0">
                <a:solidFill>
                  <a:schemeClr val="accent6"/>
                </a:solidFill>
              </a:rPr>
              <a:t>US FTC, March 2026</a:t>
            </a:r>
            <a:endParaRPr lang="en-US" sz="1100" dirty="0"/>
          </a:p>
        </p:txBody>
      </p:sp>
      <p:sp>
        <p:nvSpPr>
          <p:cNvPr id="8" name="Stat 2"/>
          <p:cNvSpPr/>
          <p:nvPr/>
        </p:nvSpPr>
        <p:spPr>
          <a:xfrm>
            <a:off x="4329684" y="1691640"/>
            <a:ext cx="3529584" cy="2331720"/>
          </a:xfrm>
          <a:prstGeom prst="roundRect">
            <a:avLst>
              <a:gd name="adj" fmla="val 4706"/>
            </a:avLst>
          </a:prstGeom>
          <a:solidFill>
            <a:schemeClr val="bg2"/>
          </a:solidFill>
          <a:ln/>
        </p:spPr>
      </p:sp>
      <p:sp>
        <p:nvSpPr>
          <p:cNvPr id="9" name="Text 7"/>
          <p:cNvSpPr txBox="1"/>
          <p:nvPr/>
        </p:nvSpPr>
        <p:spPr>
          <a:xfrm>
            <a:off x="4604004" y="1874520"/>
            <a:ext cx="3017520" cy="822960"/>
          </a:xfrm>
          <a:prstGeom prst="rect">
            <a:avLst/>
          </a:prstGeom>
          <a:noFill/>
          <a:ln/>
        </p:spPr>
        <p:txBody>
          <a:bodyPr wrap="square" lIns="0" tIns="0" rIns="0" bIns="0" rtlCol="0" anchor="t"/>
          <a:lstStyle/>
          <a:p>
            <a:pPr indent="0" marL="0">
              <a:buNone/>
            </a:pPr>
            <a:r>
              <a:rPr lang="en-US" sz="4600" b="1" dirty="0">
                <a:solidFill>
                  <a:schemeClr val="accent2"/>
                </a:solidFill>
                <a:latin typeface="+mj-lt" pitchFamily="34" charset="0"/>
                <a:ea typeface="+mj-lt" pitchFamily="34" charset="-122"/>
                <a:cs typeface="+mj-lt" pitchFamily="34" charset="-120"/>
              </a:rPr>
              <a:t>£576m</a:t>
            </a:r>
            <a:endParaRPr lang="en-US" sz="4600" dirty="0"/>
          </a:p>
        </p:txBody>
      </p:sp>
      <p:sp>
        <p:nvSpPr>
          <p:cNvPr id="10" name="Text 8"/>
          <p:cNvSpPr txBox="1"/>
          <p:nvPr/>
        </p:nvSpPr>
        <p:spPr>
          <a:xfrm>
            <a:off x="4604004" y="2724912"/>
            <a:ext cx="3017520" cy="822960"/>
          </a:xfrm>
          <a:prstGeom prst="rect">
            <a:avLst/>
          </a:prstGeom>
          <a:noFill/>
          <a:ln/>
        </p:spPr>
        <p:txBody>
          <a:bodyPr wrap="square" lIns="0" tIns="0" rIns="0" bIns="0" rtlCol="0" anchor="t"/>
          <a:lstStyle/>
          <a:p>
            <a:pPr indent="0" marL="0">
              <a:buNone/>
            </a:pPr>
            <a:r>
              <a:rPr lang="en-US" sz="1500" dirty="0">
                <a:solidFill>
                  <a:schemeClr val="tx1"/>
                </a:solidFill>
              </a:rPr>
              <a:t>lost to authorised push payment fraud in the UK in 2025, up 19%</a:t>
            </a:r>
            <a:endParaRPr lang="en-US" sz="1500" dirty="0"/>
          </a:p>
        </p:txBody>
      </p:sp>
      <p:sp>
        <p:nvSpPr>
          <p:cNvPr id="11" name="Text 9"/>
          <p:cNvSpPr txBox="1"/>
          <p:nvPr/>
        </p:nvSpPr>
        <p:spPr>
          <a:xfrm>
            <a:off x="4604004" y="3566160"/>
            <a:ext cx="3017520" cy="274320"/>
          </a:xfrm>
          <a:prstGeom prst="rect">
            <a:avLst/>
          </a:prstGeom>
          <a:noFill/>
          <a:ln/>
        </p:spPr>
        <p:txBody>
          <a:bodyPr wrap="square" lIns="0" tIns="0" rIns="0" bIns="0" rtlCol="0" anchor="t"/>
          <a:lstStyle/>
          <a:p>
            <a:pPr indent="0" marL="0">
              <a:buNone/>
            </a:pPr>
            <a:r>
              <a:rPr lang="en-US" sz="1100" dirty="0">
                <a:solidFill>
                  <a:schemeClr val="accent6"/>
                </a:solidFill>
              </a:rPr>
              <a:t>UK Finance, 2026</a:t>
            </a:r>
            <a:endParaRPr lang="en-US" sz="1100" dirty="0"/>
          </a:p>
        </p:txBody>
      </p:sp>
      <p:sp>
        <p:nvSpPr>
          <p:cNvPr id="12" name="Stat 3"/>
          <p:cNvSpPr/>
          <p:nvPr/>
        </p:nvSpPr>
        <p:spPr>
          <a:xfrm>
            <a:off x="8110728" y="1691640"/>
            <a:ext cx="3529584" cy="2331720"/>
          </a:xfrm>
          <a:prstGeom prst="roundRect">
            <a:avLst>
              <a:gd name="adj" fmla="val 4706"/>
            </a:avLst>
          </a:prstGeom>
          <a:solidFill>
            <a:schemeClr val="bg2"/>
          </a:solidFill>
          <a:ln/>
        </p:spPr>
      </p:sp>
      <p:sp>
        <p:nvSpPr>
          <p:cNvPr id="13" name="Text 11"/>
          <p:cNvSpPr txBox="1"/>
          <p:nvPr/>
        </p:nvSpPr>
        <p:spPr>
          <a:xfrm>
            <a:off x="8385048" y="1874520"/>
            <a:ext cx="3017520" cy="822960"/>
          </a:xfrm>
          <a:prstGeom prst="rect">
            <a:avLst/>
          </a:prstGeom>
          <a:noFill/>
          <a:ln/>
        </p:spPr>
        <p:txBody>
          <a:bodyPr wrap="square" lIns="0" tIns="0" rIns="0" bIns="0" rtlCol="0" anchor="t"/>
          <a:lstStyle/>
          <a:p>
            <a:pPr indent="0" marL="0">
              <a:buNone/>
            </a:pPr>
            <a:r>
              <a:rPr lang="en-US" sz="4600" b="1" dirty="0">
                <a:solidFill>
                  <a:schemeClr val="accent2"/>
                </a:solidFill>
                <a:latin typeface="+mj-lt" pitchFamily="34" charset="0"/>
                <a:ea typeface="+mj-lt" pitchFamily="34" charset="-122"/>
                <a:cs typeface="+mj-lt" pitchFamily="34" charset="-120"/>
              </a:rPr>
              <a:t>$25.6m</a:t>
            </a:r>
            <a:endParaRPr lang="en-US" sz="4600" dirty="0"/>
          </a:p>
        </p:txBody>
      </p:sp>
      <p:sp>
        <p:nvSpPr>
          <p:cNvPr id="14" name="Text 12"/>
          <p:cNvSpPr txBox="1"/>
          <p:nvPr/>
        </p:nvSpPr>
        <p:spPr>
          <a:xfrm>
            <a:off x="8385048" y="2724912"/>
            <a:ext cx="3017520" cy="822960"/>
          </a:xfrm>
          <a:prstGeom prst="rect">
            <a:avLst/>
          </a:prstGeom>
          <a:noFill/>
          <a:ln/>
        </p:spPr>
        <p:txBody>
          <a:bodyPr wrap="square" lIns="0" tIns="0" rIns="0" bIns="0" rtlCol="0" anchor="t"/>
          <a:lstStyle/>
          <a:p>
            <a:pPr indent="0" marL="0">
              <a:buNone/>
            </a:pPr>
            <a:r>
              <a:rPr lang="en-US" sz="1500" dirty="0">
                <a:solidFill>
                  <a:schemeClr val="tx1"/>
                </a:solidFill>
              </a:rPr>
              <a:t>sent in 15 transfers after one deepfake video call at Arup</a:t>
            </a:r>
            <a:endParaRPr lang="en-US" sz="1500" dirty="0"/>
          </a:p>
        </p:txBody>
      </p:sp>
      <p:sp>
        <p:nvSpPr>
          <p:cNvPr id="15" name="Text 13"/>
          <p:cNvSpPr txBox="1"/>
          <p:nvPr/>
        </p:nvSpPr>
        <p:spPr>
          <a:xfrm>
            <a:off x="8385048" y="3566160"/>
            <a:ext cx="3017520" cy="274320"/>
          </a:xfrm>
          <a:prstGeom prst="rect">
            <a:avLst/>
          </a:prstGeom>
          <a:noFill/>
          <a:ln/>
        </p:spPr>
        <p:txBody>
          <a:bodyPr wrap="square" lIns="0" tIns="0" rIns="0" bIns="0" rtlCol="0" anchor="t"/>
          <a:lstStyle/>
          <a:p>
            <a:pPr indent="0" marL="0">
              <a:buNone/>
            </a:pPr>
            <a:r>
              <a:rPr lang="en-US" sz="1100" dirty="0">
                <a:solidFill>
                  <a:schemeClr val="accent6"/>
                </a:solidFill>
              </a:rPr>
              <a:t>CNN, May 2024</a:t>
            </a:r>
            <a:endParaRPr lang="en-US" sz="1100" dirty="0"/>
          </a:p>
        </p:txBody>
      </p:sp>
      <p:sp>
        <p:nvSpPr>
          <p:cNvPr id="16" name="Text 14"/>
          <p:cNvSpPr txBox="1"/>
          <p:nvPr/>
        </p:nvSpPr>
        <p:spPr>
          <a:xfrm>
            <a:off x="548640" y="4343400"/>
            <a:ext cx="7315200" cy="365760"/>
          </a:xfrm>
          <a:prstGeom prst="rect">
            <a:avLst/>
          </a:prstGeom>
          <a:noFill/>
          <a:ln/>
        </p:spPr>
        <p:txBody>
          <a:bodyPr wrap="square" lIns="0" tIns="0" rIns="0" bIns="0" rtlCol="0" anchor="t"/>
          <a:lstStyle/>
          <a:p>
            <a:pPr indent="0" marL="0">
              <a:buNone/>
            </a:pPr>
            <a:r>
              <a:rPr lang="en-US" sz="1800" b="1" dirty="0">
                <a:solidFill>
                  <a:schemeClr val="tx1"/>
                </a:solidFill>
              </a:rPr>
              <a:t>What it cannot hide is the ask:</a:t>
            </a:r>
            <a:endParaRPr lang="en-US" sz="1800" dirty="0"/>
          </a:p>
        </p:txBody>
      </p:sp>
      <p:sp>
        <p:nvSpPr>
          <p:cNvPr id="17" name="Ask: Pay a new account"/>
          <p:cNvSpPr/>
          <p:nvPr/>
        </p:nvSpPr>
        <p:spPr>
          <a:xfrm>
            <a:off x="548640" y="4846320"/>
            <a:ext cx="2125066" cy="502920"/>
          </a:xfrm>
          <a:prstGeom prst="roundRect">
            <a:avLst>
              <a:gd name="adj" fmla="val 18182"/>
            </a:avLst>
          </a:prstGeom>
          <a:solidFill>
            <a:schemeClr val="accent2">
              <a:alpha val="13000"/>
            </a:schemeClr>
          </a:solidFill>
          <a:ln w="12700">
            <a:solidFill>
              <a:schemeClr val="accent2"/>
            </a:solidFill>
            <a:prstDash val="solid"/>
          </a:ln>
        </p:spPr>
      </p:sp>
      <p:sp>
        <p:nvSpPr>
          <p:cNvPr id="18" name="Text 16"/>
          <p:cNvSpPr txBox="1"/>
          <p:nvPr/>
        </p:nvSpPr>
        <p:spPr>
          <a:xfrm>
            <a:off x="548640" y="4846320"/>
            <a:ext cx="2125066" cy="502920"/>
          </a:xfrm>
          <a:prstGeom prst="rect">
            <a:avLst/>
          </a:prstGeom>
          <a:noFill/>
          <a:ln/>
        </p:spPr>
        <p:txBody>
          <a:bodyPr wrap="square" lIns="0" tIns="0" rIns="0" bIns="0" rtlCol="0" anchor="ctr"/>
          <a:lstStyle/>
          <a:p>
            <a:pPr algn="ctr" indent="0" marL="0">
              <a:buNone/>
            </a:pPr>
            <a:r>
              <a:rPr lang="en-US" sz="1600" b="1" dirty="0">
                <a:solidFill>
                  <a:schemeClr val="accent2"/>
                </a:solidFill>
              </a:rPr>
              <a:t>Pay a new account</a:t>
            </a:r>
            <a:endParaRPr lang="en-US" sz="1600" dirty="0"/>
          </a:p>
        </p:txBody>
      </p:sp>
      <p:sp>
        <p:nvSpPr>
          <p:cNvPr id="19" name="Ask: Act now"/>
          <p:cNvSpPr/>
          <p:nvPr/>
        </p:nvSpPr>
        <p:spPr>
          <a:xfrm>
            <a:off x="2856586" y="4846320"/>
            <a:ext cx="1100938" cy="502920"/>
          </a:xfrm>
          <a:prstGeom prst="roundRect">
            <a:avLst>
              <a:gd name="adj" fmla="val 18182"/>
            </a:avLst>
          </a:prstGeom>
          <a:solidFill>
            <a:schemeClr val="accent2">
              <a:alpha val="13000"/>
            </a:schemeClr>
          </a:solidFill>
          <a:ln w="12700">
            <a:solidFill>
              <a:schemeClr val="accent2"/>
            </a:solidFill>
            <a:prstDash val="solid"/>
          </a:ln>
        </p:spPr>
      </p:sp>
      <p:sp>
        <p:nvSpPr>
          <p:cNvPr id="20" name="Text 18"/>
          <p:cNvSpPr txBox="1"/>
          <p:nvPr/>
        </p:nvSpPr>
        <p:spPr>
          <a:xfrm>
            <a:off x="2856586" y="4846320"/>
            <a:ext cx="1100938" cy="502920"/>
          </a:xfrm>
          <a:prstGeom prst="rect">
            <a:avLst/>
          </a:prstGeom>
          <a:noFill/>
          <a:ln/>
        </p:spPr>
        <p:txBody>
          <a:bodyPr wrap="square" lIns="0" tIns="0" rIns="0" bIns="0" rtlCol="0" anchor="ctr"/>
          <a:lstStyle/>
          <a:p>
            <a:pPr algn="ctr" indent="0" marL="0">
              <a:buNone/>
            </a:pPr>
            <a:r>
              <a:rPr lang="en-US" sz="1600" b="1" dirty="0">
                <a:solidFill>
                  <a:schemeClr val="accent2"/>
                </a:solidFill>
              </a:rPr>
              <a:t>Act now</a:t>
            </a:r>
            <a:endParaRPr lang="en-US" sz="1600" dirty="0"/>
          </a:p>
        </p:txBody>
      </p:sp>
      <p:sp>
        <p:nvSpPr>
          <p:cNvPr id="21" name="Ask: Keep it secret"/>
          <p:cNvSpPr/>
          <p:nvPr/>
        </p:nvSpPr>
        <p:spPr>
          <a:xfrm>
            <a:off x="4140403" y="4846320"/>
            <a:ext cx="1817827" cy="502920"/>
          </a:xfrm>
          <a:prstGeom prst="roundRect">
            <a:avLst>
              <a:gd name="adj" fmla="val 18182"/>
            </a:avLst>
          </a:prstGeom>
          <a:solidFill>
            <a:schemeClr val="accent2">
              <a:alpha val="13000"/>
            </a:schemeClr>
          </a:solidFill>
          <a:ln w="12700">
            <a:solidFill>
              <a:schemeClr val="accent2"/>
            </a:solidFill>
            <a:prstDash val="solid"/>
          </a:ln>
        </p:spPr>
      </p:sp>
      <p:sp>
        <p:nvSpPr>
          <p:cNvPr id="22" name="Text 20"/>
          <p:cNvSpPr txBox="1"/>
          <p:nvPr/>
        </p:nvSpPr>
        <p:spPr>
          <a:xfrm>
            <a:off x="4140403" y="4846320"/>
            <a:ext cx="1817827" cy="502920"/>
          </a:xfrm>
          <a:prstGeom prst="rect">
            <a:avLst/>
          </a:prstGeom>
          <a:noFill/>
          <a:ln/>
        </p:spPr>
        <p:txBody>
          <a:bodyPr wrap="square" lIns="0" tIns="0" rIns="0" bIns="0" rtlCol="0" anchor="ctr"/>
          <a:lstStyle/>
          <a:p>
            <a:pPr algn="ctr" indent="0" marL="0">
              <a:buNone/>
            </a:pPr>
            <a:r>
              <a:rPr lang="en-US" sz="1600" b="1" dirty="0">
                <a:solidFill>
                  <a:schemeClr val="accent2"/>
                </a:solidFill>
              </a:rPr>
              <a:t>Keep it secret</a:t>
            </a:r>
            <a:endParaRPr lang="en-US" sz="1600" dirty="0"/>
          </a:p>
        </p:txBody>
      </p:sp>
      <p:sp>
        <p:nvSpPr>
          <p:cNvPr id="23" name="Ask: Read out the code"/>
          <p:cNvSpPr/>
          <p:nvPr/>
        </p:nvSpPr>
        <p:spPr>
          <a:xfrm>
            <a:off x="6141110" y="4846320"/>
            <a:ext cx="2125066" cy="502920"/>
          </a:xfrm>
          <a:prstGeom prst="roundRect">
            <a:avLst>
              <a:gd name="adj" fmla="val 18182"/>
            </a:avLst>
          </a:prstGeom>
          <a:solidFill>
            <a:schemeClr val="accent2">
              <a:alpha val="13000"/>
            </a:schemeClr>
          </a:solidFill>
          <a:ln w="12700">
            <a:solidFill>
              <a:schemeClr val="accent2"/>
            </a:solidFill>
            <a:prstDash val="solid"/>
          </a:ln>
        </p:spPr>
      </p:sp>
      <p:sp>
        <p:nvSpPr>
          <p:cNvPr id="24" name="Text 22"/>
          <p:cNvSpPr txBox="1"/>
          <p:nvPr/>
        </p:nvSpPr>
        <p:spPr>
          <a:xfrm>
            <a:off x="6141110" y="4846320"/>
            <a:ext cx="2125066" cy="502920"/>
          </a:xfrm>
          <a:prstGeom prst="rect">
            <a:avLst/>
          </a:prstGeom>
          <a:noFill/>
          <a:ln/>
        </p:spPr>
        <p:txBody>
          <a:bodyPr wrap="square" lIns="0" tIns="0" rIns="0" bIns="0" rtlCol="0" anchor="ctr"/>
          <a:lstStyle/>
          <a:p>
            <a:pPr algn="ctr" indent="0" marL="0">
              <a:buNone/>
            </a:pPr>
            <a:r>
              <a:rPr lang="en-US" sz="1600" b="1" dirty="0">
                <a:solidFill>
                  <a:schemeClr val="accent2"/>
                </a:solidFill>
              </a:rPr>
              <a:t>Read out the code</a:t>
            </a:r>
            <a:endParaRPr lang="en-US" sz="1600" dirty="0"/>
          </a:p>
        </p:txBody>
      </p:sp>
      <p:sp>
        <p:nvSpPr>
          <p:cNvPr id="25" name="Ask: Click this link"/>
          <p:cNvSpPr/>
          <p:nvPr/>
        </p:nvSpPr>
        <p:spPr>
          <a:xfrm>
            <a:off x="8449056" y="4846320"/>
            <a:ext cx="1920240" cy="502920"/>
          </a:xfrm>
          <a:prstGeom prst="roundRect">
            <a:avLst>
              <a:gd name="adj" fmla="val 18182"/>
            </a:avLst>
          </a:prstGeom>
          <a:solidFill>
            <a:schemeClr val="accent2">
              <a:alpha val="13000"/>
            </a:schemeClr>
          </a:solidFill>
          <a:ln w="12700">
            <a:solidFill>
              <a:schemeClr val="accent2"/>
            </a:solidFill>
            <a:prstDash val="solid"/>
          </a:ln>
        </p:spPr>
      </p:sp>
      <p:sp>
        <p:nvSpPr>
          <p:cNvPr id="26" name="Text 24"/>
          <p:cNvSpPr txBox="1"/>
          <p:nvPr/>
        </p:nvSpPr>
        <p:spPr>
          <a:xfrm>
            <a:off x="8449056" y="4846320"/>
            <a:ext cx="1920240" cy="502920"/>
          </a:xfrm>
          <a:prstGeom prst="rect">
            <a:avLst/>
          </a:prstGeom>
          <a:noFill/>
          <a:ln/>
        </p:spPr>
        <p:txBody>
          <a:bodyPr wrap="square" lIns="0" tIns="0" rIns="0" bIns="0" rtlCol="0" anchor="ctr"/>
          <a:lstStyle/>
          <a:p>
            <a:pPr algn="ctr" indent="0" marL="0">
              <a:buNone/>
            </a:pPr>
            <a:r>
              <a:rPr lang="en-US" sz="1600" b="1" dirty="0">
                <a:solidFill>
                  <a:schemeClr val="accent2"/>
                </a:solidFill>
              </a:rPr>
              <a:t>Click this link</a:t>
            </a:r>
            <a:endParaRPr lang="en-US" sz="1600" dirty="0"/>
          </a:p>
        </p:txBody>
      </p:sp>
      <p:sp>
        <p:nvSpPr>
          <p:cNvPr id="27" name="Text 25"/>
          <p:cNvSpPr txBox="1"/>
          <p:nvPr/>
        </p:nvSpPr>
        <p:spPr>
          <a:xfrm>
            <a:off x="548640" y="5623560"/>
            <a:ext cx="10515600" cy="365760"/>
          </a:xfrm>
          <a:prstGeom prst="rect">
            <a:avLst/>
          </a:prstGeom>
          <a:noFill/>
          <a:ln/>
        </p:spPr>
        <p:txBody>
          <a:bodyPr wrap="square" lIns="0" tIns="0" rIns="0" bIns="0" rtlCol="0" anchor="t"/>
          <a:lstStyle/>
          <a:p>
            <a:pPr indent="0" marL="0">
              <a:buNone/>
            </a:pPr>
            <a:r>
              <a:rPr lang="en-US" sz="1600" i="1" dirty="0">
                <a:solidFill>
                  <a:schemeClr val="tx1"/>
                </a:solidFill>
              </a:rPr>
              <a:t>TrustGate looks for these tactics. It does not guess whether a machine wrote the text.</a:t>
            </a:r>
            <a:endParaRPr lang="en-US" sz="16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58368"/>
          </a:xfrm>
          <a:prstGeom prst="rect">
            <a:avLst/>
          </a:prstGeom>
          <a:noFill/>
          <a:ln/>
        </p:spPr>
        <p:txBody>
          <a:bodyPr wrap="square" lIns="0" tIns="0" rIns="0" bIns="0" rtlCol="0" anchor="ctr"/>
          <a:lstStyle/>
          <a:p>
            <a:pPr algn="l" indent="0" marL="0">
              <a:buNone/>
            </a:pPr>
            <a:r>
              <a:rPr lang="en-US" sz="3400" b="1" dirty="0">
                <a:solidFill>
                  <a:schemeClr val="tx1"/>
                </a:solidFill>
              </a:rPr>
              <a:t>TrustGate checks the ask, before you pay</a:t>
            </a:r>
            <a:endParaRPr lang="en-US" sz="34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indent="0" marL="0">
              <a:buNone/>
            </a:pPr>
            <a:r>
              <a:rPr lang="en-US" sz="1700" dirty="0">
                <a:solidFill>
                  <a:schemeClr val="accent6"/>
                </a:solidFill>
              </a:rPr>
              <a:t>Paste an SMS, WhatsApp message or e-mail in English or Turkish. Add the sender, links or payment details if you have them.</a:t>
            </a:r>
            <a:endParaRPr lang="en-US" sz="1700" dirty="0"/>
          </a:p>
        </p:txBody>
      </p:sp>
      <p:sp>
        <p:nvSpPr>
          <p:cNvPr id="4" name="Text 2"/>
          <p:cNvSpPr txBox="1"/>
          <p:nvPr/>
        </p:nvSpPr>
        <p:spPr>
          <a:xfrm>
            <a:off x="548640" y="1737360"/>
            <a:ext cx="5486400" cy="365760"/>
          </a:xfrm>
          <a:prstGeom prst="rect">
            <a:avLst/>
          </a:prstGeom>
          <a:noFill/>
          <a:ln/>
        </p:spPr>
        <p:txBody>
          <a:bodyPr wrap="square" lIns="0" tIns="0" rIns="0" bIns="0" rtlCol="0" anchor="t"/>
          <a:lstStyle/>
          <a:p>
            <a:pPr indent="0" marL="0">
              <a:buNone/>
            </a:pPr>
            <a:r>
              <a:rPr lang="en-US" sz="1800" b="1" dirty="0">
                <a:solidFill>
                  <a:schemeClr val="tx1"/>
                </a:solidFill>
              </a:rPr>
              <a:t>What you get back</a:t>
            </a:r>
            <a:endParaRPr lang="en-US" sz="1800" dirty="0"/>
          </a:p>
        </p:txBody>
      </p:sp>
      <p:sp>
        <p:nvSpPr>
          <p:cNvPr id="5" name="Get 1 circle"/>
          <p:cNvSpPr/>
          <p:nvPr/>
        </p:nvSpPr>
        <p:spPr>
          <a:xfrm>
            <a:off x="548640" y="2240280"/>
            <a:ext cx="530352" cy="530352"/>
          </a:xfrm>
          <a:prstGeom prst="ellipse">
            <a:avLst/>
          </a:prstGeom>
          <a:solidFill>
            <a:schemeClr val="accent1">
              <a:alpha val="14000"/>
            </a:schemeClr>
          </a:solidFill>
          <a:ln/>
        </p:spPr>
      </p:sp>
      <p:pic>
        <p:nvPicPr>
          <p:cNvPr id="6" name="Get 1 icon" descr="preencoded.png">    </p:cNvPr>
          <p:cNvPicPr>
            <a:picLocks noChangeAspect="1"/>
          </p:cNvPicPr>
          <p:nvPr/>
        </p:nvPicPr>
        <p:blipFill>
          <a:blip r:embed="rId1"/>
          <a:stretch>
            <a:fillRect/>
          </a:stretch>
        </p:blipFill>
        <p:spPr>
          <a:xfrm>
            <a:off x="675924" y="2367564"/>
            <a:ext cx="275783" cy="275783"/>
          </a:xfrm>
          <a:prstGeom prst="rect">
            <a:avLst/>
          </a:prstGeom>
        </p:spPr>
      </p:pic>
      <p:sp>
        <p:nvSpPr>
          <p:cNvPr id="7" name="Text 4"/>
          <p:cNvSpPr txBox="1"/>
          <p:nvPr/>
        </p:nvSpPr>
        <p:spPr>
          <a:xfrm>
            <a:off x="1280160" y="2240280"/>
            <a:ext cx="5120640" cy="530352"/>
          </a:xfrm>
          <a:prstGeom prst="rect">
            <a:avLst/>
          </a:prstGeom>
          <a:noFill/>
          <a:ln/>
        </p:spPr>
        <p:txBody>
          <a:bodyPr wrap="square" lIns="0" tIns="0" rIns="0" bIns="0" rtlCol="0" anchor="ctr"/>
          <a:lstStyle/>
          <a:p>
            <a:pPr indent="0" marL="0">
              <a:buNone/>
            </a:pPr>
            <a:r>
              <a:rPr lang="en-US" sz="1700" dirty="0">
                <a:solidFill>
                  <a:schemeClr val="tx1"/>
                </a:solidFill>
              </a:rPr>
              <a:t>A 0–100 risk score and a verdict</a:t>
            </a:r>
            <a:endParaRPr lang="en-US" sz="1700" dirty="0"/>
          </a:p>
        </p:txBody>
      </p:sp>
      <p:sp>
        <p:nvSpPr>
          <p:cNvPr id="8" name="Get 2 circle"/>
          <p:cNvSpPr/>
          <p:nvPr/>
        </p:nvSpPr>
        <p:spPr>
          <a:xfrm>
            <a:off x="548640" y="2953512"/>
            <a:ext cx="530352" cy="530352"/>
          </a:xfrm>
          <a:prstGeom prst="ellipse">
            <a:avLst/>
          </a:prstGeom>
          <a:solidFill>
            <a:schemeClr val="accent1">
              <a:alpha val="14000"/>
            </a:schemeClr>
          </a:solidFill>
          <a:ln/>
        </p:spPr>
      </p:sp>
      <p:pic>
        <p:nvPicPr>
          <p:cNvPr id="9" name="Get 2 icon" descr="preencoded.png">    </p:cNvPr>
          <p:cNvPicPr>
            <a:picLocks noChangeAspect="1"/>
          </p:cNvPicPr>
          <p:nvPr/>
        </p:nvPicPr>
        <p:blipFill>
          <a:blip r:embed="rId2"/>
          <a:stretch>
            <a:fillRect/>
          </a:stretch>
        </p:blipFill>
        <p:spPr>
          <a:xfrm>
            <a:off x="675924" y="3080796"/>
            <a:ext cx="275783" cy="275783"/>
          </a:xfrm>
          <a:prstGeom prst="rect">
            <a:avLst/>
          </a:prstGeom>
        </p:spPr>
      </p:pic>
      <p:sp>
        <p:nvSpPr>
          <p:cNvPr id="10" name="Text 6"/>
          <p:cNvSpPr txBox="1"/>
          <p:nvPr/>
        </p:nvSpPr>
        <p:spPr>
          <a:xfrm>
            <a:off x="1280160" y="2953512"/>
            <a:ext cx="5120640" cy="530352"/>
          </a:xfrm>
          <a:prstGeom prst="rect">
            <a:avLst/>
          </a:prstGeom>
          <a:noFill/>
          <a:ln/>
        </p:spPr>
        <p:txBody>
          <a:bodyPr wrap="square" lIns="0" tIns="0" rIns="0" bIns="0" rtlCol="0" anchor="ctr"/>
          <a:lstStyle/>
          <a:p>
            <a:pPr indent="0" marL="0">
              <a:buNone/>
            </a:pPr>
            <a:r>
              <a:rPr lang="en-US" sz="1700" dirty="0">
                <a:solidFill>
                  <a:schemeClr val="tx1"/>
                </a:solidFill>
              </a:rPr>
              <a:t>An action for payment flows: proceed, hold or block</a:t>
            </a:r>
            <a:endParaRPr lang="en-US" sz="1700" dirty="0"/>
          </a:p>
        </p:txBody>
      </p:sp>
      <p:sp>
        <p:nvSpPr>
          <p:cNvPr id="11" name="Get 3 circle"/>
          <p:cNvSpPr/>
          <p:nvPr/>
        </p:nvSpPr>
        <p:spPr>
          <a:xfrm>
            <a:off x="548640" y="3666744"/>
            <a:ext cx="530352" cy="530352"/>
          </a:xfrm>
          <a:prstGeom prst="ellipse">
            <a:avLst/>
          </a:prstGeom>
          <a:solidFill>
            <a:schemeClr val="accent1">
              <a:alpha val="14000"/>
            </a:schemeClr>
          </a:solidFill>
          <a:ln/>
        </p:spPr>
      </p:sp>
      <p:pic>
        <p:nvPicPr>
          <p:cNvPr id="12" name="Get 3 icon" descr="preencoded.png">    </p:cNvPr>
          <p:cNvPicPr>
            <a:picLocks noChangeAspect="1"/>
          </p:cNvPicPr>
          <p:nvPr/>
        </p:nvPicPr>
        <p:blipFill>
          <a:blip r:embed="rId3"/>
          <a:stretch>
            <a:fillRect/>
          </a:stretch>
        </p:blipFill>
        <p:spPr>
          <a:xfrm>
            <a:off x="675924" y="3794028"/>
            <a:ext cx="275783" cy="275783"/>
          </a:xfrm>
          <a:prstGeom prst="rect">
            <a:avLst/>
          </a:prstGeom>
        </p:spPr>
      </p:pic>
      <p:sp>
        <p:nvSpPr>
          <p:cNvPr id="13" name="Text 8"/>
          <p:cNvSpPr txBox="1"/>
          <p:nvPr/>
        </p:nvSpPr>
        <p:spPr>
          <a:xfrm>
            <a:off x="1280160" y="3666744"/>
            <a:ext cx="5120640" cy="530352"/>
          </a:xfrm>
          <a:prstGeom prst="rect">
            <a:avLst/>
          </a:prstGeom>
          <a:noFill/>
          <a:ln/>
        </p:spPr>
        <p:txBody>
          <a:bodyPr wrap="square" lIns="0" tIns="0" rIns="0" bIns="0" rtlCol="0" anchor="ctr"/>
          <a:lstStyle/>
          <a:p>
            <a:pPr indent="0" marL="0">
              <a:buNone/>
            </a:pPr>
            <a:r>
              <a:rPr lang="en-US" sz="1700" dirty="0">
                <a:solidFill>
                  <a:schemeClr val="tx1"/>
                </a:solidFill>
              </a:rPr>
              <a:t>Red flags highlighted on the original text</a:t>
            </a:r>
            <a:endParaRPr lang="en-US" sz="1700" dirty="0"/>
          </a:p>
        </p:txBody>
      </p:sp>
      <p:sp>
        <p:nvSpPr>
          <p:cNvPr id="14" name="Get 4 circle"/>
          <p:cNvSpPr/>
          <p:nvPr/>
        </p:nvSpPr>
        <p:spPr>
          <a:xfrm>
            <a:off x="548640" y="4379976"/>
            <a:ext cx="530352" cy="530352"/>
          </a:xfrm>
          <a:prstGeom prst="ellipse">
            <a:avLst/>
          </a:prstGeom>
          <a:solidFill>
            <a:schemeClr val="accent1">
              <a:alpha val="14000"/>
            </a:schemeClr>
          </a:solidFill>
          <a:ln/>
        </p:spPr>
      </p:sp>
      <p:pic>
        <p:nvPicPr>
          <p:cNvPr id="15" name="Get 4 icon" descr="preencoded.png">    </p:cNvPr>
          <p:cNvPicPr>
            <a:picLocks noChangeAspect="1"/>
          </p:cNvPicPr>
          <p:nvPr/>
        </p:nvPicPr>
        <p:blipFill>
          <a:blip r:embed="rId4"/>
          <a:stretch>
            <a:fillRect/>
          </a:stretch>
        </p:blipFill>
        <p:spPr>
          <a:xfrm>
            <a:off x="675924" y="4507260"/>
            <a:ext cx="275783" cy="275783"/>
          </a:xfrm>
          <a:prstGeom prst="rect">
            <a:avLst/>
          </a:prstGeom>
        </p:spPr>
      </p:pic>
      <p:sp>
        <p:nvSpPr>
          <p:cNvPr id="16" name="Text 10"/>
          <p:cNvSpPr txBox="1"/>
          <p:nvPr/>
        </p:nvSpPr>
        <p:spPr>
          <a:xfrm>
            <a:off x="1280160" y="4379976"/>
            <a:ext cx="5120640" cy="530352"/>
          </a:xfrm>
          <a:prstGeom prst="rect">
            <a:avLst/>
          </a:prstGeom>
          <a:noFill/>
          <a:ln/>
        </p:spPr>
        <p:txBody>
          <a:bodyPr wrap="square" lIns="0" tIns="0" rIns="0" bIns="0" rtlCol="0" anchor="ctr"/>
          <a:lstStyle/>
          <a:p>
            <a:pPr indent="0" marL="0">
              <a:buNone/>
            </a:pPr>
            <a:r>
              <a:rPr lang="en-US" sz="1700" dirty="0">
                <a:solidFill>
                  <a:schemeClr val="tx1"/>
                </a:solidFill>
              </a:rPr>
              <a:t>Safe next steps for this kind of scam</a:t>
            </a:r>
            <a:endParaRPr lang="en-US" sz="1700" dirty="0"/>
          </a:p>
        </p:txBody>
      </p:sp>
      <p:sp>
        <p:nvSpPr>
          <p:cNvPr id="17" name="Get 5 circle"/>
          <p:cNvSpPr/>
          <p:nvPr/>
        </p:nvSpPr>
        <p:spPr>
          <a:xfrm>
            <a:off x="548640" y="5093208"/>
            <a:ext cx="530352" cy="530352"/>
          </a:xfrm>
          <a:prstGeom prst="ellipse">
            <a:avLst/>
          </a:prstGeom>
          <a:solidFill>
            <a:schemeClr val="accent1">
              <a:alpha val="14000"/>
            </a:schemeClr>
          </a:solidFill>
          <a:ln/>
        </p:spPr>
      </p:sp>
      <p:pic>
        <p:nvPicPr>
          <p:cNvPr id="18" name="Get 5 icon" descr="preencoded.png">    </p:cNvPr>
          <p:cNvPicPr>
            <a:picLocks noChangeAspect="1"/>
          </p:cNvPicPr>
          <p:nvPr/>
        </p:nvPicPr>
        <p:blipFill>
          <a:blip r:embed="rId5"/>
          <a:stretch>
            <a:fillRect/>
          </a:stretch>
        </p:blipFill>
        <p:spPr>
          <a:xfrm>
            <a:off x="675924" y="5220492"/>
            <a:ext cx="275783" cy="275783"/>
          </a:xfrm>
          <a:prstGeom prst="rect">
            <a:avLst/>
          </a:prstGeom>
        </p:spPr>
      </p:pic>
      <p:sp>
        <p:nvSpPr>
          <p:cNvPr id="19" name="Text 12"/>
          <p:cNvSpPr txBox="1"/>
          <p:nvPr/>
        </p:nvSpPr>
        <p:spPr>
          <a:xfrm>
            <a:off x="1280160" y="5093208"/>
            <a:ext cx="5120640" cy="530352"/>
          </a:xfrm>
          <a:prstGeom prst="rect">
            <a:avLst/>
          </a:prstGeom>
          <a:noFill/>
          <a:ln/>
        </p:spPr>
        <p:txBody>
          <a:bodyPr wrap="square" lIns="0" tIns="0" rIns="0" bIns="0" rtlCol="0" anchor="ctr"/>
          <a:lstStyle/>
          <a:p>
            <a:pPr indent="0" marL="0">
              <a:buNone/>
            </a:pPr>
            <a:r>
              <a:rPr lang="en-US" sz="1700" dirty="0">
                <a:solidFill>
                  <a:schemeClr val="tx1"/>
                </a:solidFill>
              </a:rPr>
              <a:t>A ready-to-forward warning for family or colleagues</a:t>
            </a:r>
            <a:endParaRPr lang="en-US" sz="1700" dirty="0"/>
          </a:p>
        </p:txBody>
      </p:sp>
      <p:sp>
        <p:nvSpPr>
          <p:cNvPr id="20" name="Verdict SAFE"/>
          <p:cNvSpPr/>
          <p:nvPr/>
        </p:nvSpPr>
        <p:spPr>
          <a:xfrm>
            <a:off x="6720840" y="1783080"/>
            <a:ext cx="4919472" cy="1078992"/>
          </a:xfrm>
          <a:prstGeom prst="roundRect">
            <a:avLst>
              <a:gd name="adj" fmla="val 10169"/>
            </a:avLst>
          </a:prstGeom>
          <a:solidFill>
            <a:schemeClr val="accent4">
              <a:alpha val="12000"/>
            </a:schemeClr>
          </a:solidFill>
          <a:ln/>
        </p:spPr>
      </p:sp>
      <p:pic>
        <p:nvPicPr>
          <p:cNvPr id="21" name="SAFE icon" descr="preencoded.png">    </p:cNvPr>
          <p:cNvPicPr>
            <a:picLocks noChangeAspect="1"/>
          </p:cNvPicPr>
          <p:nvPr/>
        </p:nvPicPr>
        <p:blipFill>
          <a:blip r:embed="rId6"/>
          <a:stretch>
            <a:fillRect/>
          </a:stretch>
        </p:blipFill>
        <p:spPr>
          <a:xfrm>
            <a:off x="6949440" y="2057400"/>
            <a:ext cx="530352" cy="530352"/>
          </a:xfrm>
          <a:prstGeom prst="rect">
            <a:avLst/>
          </a:prstGeom>
        </p:spPr>
      </p:pic>
      <p:sp>
        <p:nvSpPr>
          <p:cNvPr id="22" name="Text 14"/>
          <p:cNvSpPr txBox="1"/>
          <p:nvPr/>
        </p:nvSpPr>
        <p:spPr>
          <a:xfrm>
            <a:off x="7680960" y="1938528"/>
            <a:ext cx="3840480" cy="411480"/>
          </a:xfrm>
          <a:prstGeom prst="rect">
            <a:avLst/>
          </a:prstGeom>
          <a:noFill/>
          <a:ln/>
        </p:spPr>
        <p:txBody>
          <a:bodyPr wrap="square" lIns="0" tIns="0" rIns="0" bIns="0" rtlCol="0" anchor="t"/>
          <a:lstStyle/>
          <a:p>
            <a:pPr indent="0" marL="0">
              <a:buNone/>
            </a:pPr>
            <a:r>
              <a:rPr lang="en-US" sz="1800" b="1" dirty="0">
                <a:solidFill>
                  <a:schemeClr val="accent4"/>
                </a:solidFill>
              </a:rPr>
              <a:t>SAFE</a:t>
            </a:r>
            <a:pPr indent="0" marL="0">
              <a:buNone/>
            </a:pPr>
            <a:r>
              <a:rPr lang="en-US" sz="1800" b="1" dirty="0">
                <a:solidFill>
                  <a:schemeClr val="tx1"/>
                </a:solidFill>
              </a:rPr>
              <a:t>   →  proceed</a:t>
            </a:r>
            <a:endParaRPr lang="en-US" sz="1800" dirty="0"/>
          </a:p>
        </p:txBody>
      </p:sp>
      <p:sp>
        <p:nvSpPr>
          <p:cNvPr id="23" name="Text 15"/>
          <p:cNvSpPr txBox="1"/>
          <p:nvPr/>
        </p:nvSpPr>
        <p:spPr>
          <a:xfrm>
            <a:off x="7680960" y="2350008"/>
            <a:ext cx="3840480" cy="365760"/>
          </a:xfrm>
          <a:prstGeom prst="rect">
            <a:avLst/>
          </a:prstGeom>
          <a:noFill/>
          <a:ln/>
        </p:spPr>
        <p:txBody>
          <a:bodyPr wrap="square" lIns="0" tIns="0" rIns="0" bIns="0" rtlCol="0" anchor="t"/>
          <a:lstStyle/>
          <a:p>
            <a:pPr indent="0" marL="0">
              <a:buNone/>
            </a:pPr>
            <a:r>
              <a:rPr lang="en-US" sz="1500" dirty="0">
                <a:solidFill>
                  <a:schemeClr val="tx1"/>
                </a:solidFill>
              </a:rPr>
              <a:t>No meaningful risk found.</a:t>
            </a:r>
            <a:endParaRPr lang="en-US" sz="1500" dirty="0"/>
          </a:p>
        </p:txBody>
      </p:sp>
      <p:sp>
        <p:nvSpPr>
          <p:cNvPr id="24" name="Verdict SUSPICIOUS"/>
          <p:cNvSpPr/>
          <p:nvPr/>
        </p:nvSpPr>
        <p:spPr>
          <a:xfrm>
            <a:off x="6720840" y="3044952"/>
            <a:ext cx="4919472" cy="1078992"/>
          </a:xfrm>
          <a:prstGeom prst="roundRect">
            <a:avLst>
              <a:gd name="adj" fmla="val 10169"/>
            </a:avLst>
          </a:prstGeom>
          <a:solidFill>
            <a:schemeClr val="accent3">
              <a:alpha val="12000"/>
            </a:schemeClr>
          </a:solidFill>
          <a:ln/>
        </p:spPr>
      </p:sp>
      <p:pic>
        <p:nvPicPr>
          <p:cNvPr id="25" name="SUSPICIOUS icon" descr="preencoded.png">    </p:cNvPr>
          <p:cNvPicPr>
            <a:picLocks noChangeAspect="1"/>
          </p:cNvPicPr>
          <p:nvPr/>
        </p:nvPicPr>
        <p:blipFill>
          <a:blip r:embed="rId7"/>
          <a:stretch>
            <a:fillRect/>
          </a:stretch>
        </p:blipFill>
        <p:spPr>
          <a:xfrm>
            <a:off x="6949440" y="3319272"/>
            <a:ext cx="530352" cy="530352"/>
          </a:xfrm>
          <a:prstGeom prst="rect">
            <a:avLst/>
          </a:prstGeom>
        </p:spPr>
      </p:pic>
      <p:sp>
        <p:nvSpPr>
          <p:cNvPr id="26" name="Text 17"/>
          <p:cNvSpPr txBox="1"/>
          <p:nvPr/>
        </p:nvSpPr>
        <p:spPr>
          <a:xfrm>
            <a:off x="7680960" y="3200400"/>
            <a:ext cx="3840480" cy="411480"/>
          </a:xfrm>
          <a:prstGeom prst="rect">
            <a:avLst/>
          </a:prstGeom>
          <a:noFill/>
          <a:ln/>
        </p:spPr>
        <p:txBody>
          <a:bodyPr wrap="square" lIns="0" tIns="0" rIns="0" bIns="0" rtlCol="0" anchor="t"/>
          <a:lstStyle/>
          <a:p>
            <a:pPr indent="0" marL="0">
              <a:buNone/>
            </a:pPr>
            <a:r>
              <a:rPr lang="en-US" sz="1800" b="1" dirty="0">
                <a:solidFill>
                  <a:srgbClr val="9A5600"/>
                </a:solidFill>
              </a:rPr>
              <a:t>SUSPICIOUS</a:t>
            </a:r>
            <a:pPr indent="0" marL="0">
              <a:buNone/>
            </a:pPr>
            <a:r>
              <a:rPr lang="en-US" sz="1800" b="1" dirty="0">
                <a:solidFill>
                  <a:schemeClr val="tx1"/>
                </a:solidFill>
              </a:rPr>
              <a:t>   →  hold</a:t>
            </a:r>
            <a:endParaRPr lang="en-US" sz="1800" dirty="0"/>
          </a:p>
        </p:txBody>
      </p:sp>
      <p:sp>
        <p:nvSpPr>
          <p:cNvPr id="27" name="Text 18"/>
          <p:cNvSpPr txBox="1"/>
          <p:nvPr/>
        </p:nvSpPr>
        <p:spPr>
          <a:xfrm>
            <a:off x="7680960" y="3611880"/>
            <a:ext cx="3840480" cy="365760"/>
          </a:xfrm>
          <a:prstGeom prst="rect">
            <a:avLst/>
          </a:prstGeom>
          <a:noFill/>
          <a:ln/>
        </p:spPr>
        <p:txBody>
          <a:bodyPr wrap="square" lIns="0" tIns="0" rIns="0" bIns="0" rtlCol="0" anchor="t"/>
          <a:lstStyle/>
          <a:p>
            <a:pPr indent="0" marL="0">
              <a:buNone/>
            </a:pPr>
            <a:r>
              <a:rPr lang="en-US" sz="1500" dirty="0">
                <a:solidFill>
                  <a:schemeClr val="tx1"/>
                </a:solidFill>
              </a:rPr>
              <a:t>Verify through a channel you already trust.</a:t>
            </a:r>
            <a:endParaRPr lang="en-US" sz="1500" dirty="0"/>
          </a:p>
        </p:txBody>
      </p:sp>
      <p:sp>
        <p:nvSpPr>
          <p:cNvPr id="28" name="Verdict DANGEROUS"/>
          <p:cNvSpPr/>
          <p:nvPr/>
        </p:nvSpPr>
        <p:spPr>
          <a:xfrm>
            <a:off x="6720840" y="4306824"/>
            <a:ext cx="4919472" cy="1078992"/>
          </a:xfrm>
          <a:prstGeom prst="roundRect">
            <a:avLst>
              <a:gd name="adj" fmla="val 10169"/>
            </a:avLst>
          </a:prstGeom>
          <a:solidFill>
            <a:schemeClr val="accent2">
              <a:alpha val="12000"/>
            </a:schemeClr>
          </a:solidFill>
          <a:ln/>
        </p:spPr>
      </p:sp>
      <p:pic>
        <p:nvPicPr>
          <p:cNvPr id="29" name="DANGEROUS icon" descr="preencoded.png">    </p:cNvPr>
          <p:cNvPicPr>
            <a:picLocks noChangeAspect="1"/>
          </p:cNvPicPr>
          <p:nvPr/>
        </p:nvPicPr>
        <p:blipFill>
          <a:blip r:embed="rId8"/>
          <a:stretch>
            <a:fillRect/>
          </a:stretch>
        </p:blipFill>
        <p:spPr>
          <a:xfrm>
            <a:off x="6949440" y="4581144"/>
            <a:ext cx="530352" cy="530352"/>
          </a:xfrm>
          <a:prstGeom prst="rect">
            <a:avLst/>
          </a:prstGeom>
        </p:spPr>
      </p:pic>
      <p:sp>
        <p:nvSpPr>
          <p:cNvPr id="30" name="Text 20"/>
          <p:cNvSpPr txBox="1"/>
          <p:nvPr/>
        </p:nvSpPr>
        <p:spPr>
          <a:xfrm>
            <a:off x="7680960" y="4462272"/>
            <a:ext cx="3840480" cy="411480"/>
          </a:xfrm>
          <a:prstGeom prst="rect">
            <a:avLst/>
          </a:prstGeom>
          <a:noFill/>
          <a:ln/>
        </p:spPr>
        <p:txBody>
          <a:bodyPr wrap="square" lIns="0" tIns="0" rIns="0" bIns="0" rtlCol="0" anchor="t"/>
          <a:lstStyle/>
          <a:p>
            <a:pPr indent="0" marL="0">
              <a:buNone/>
            </a:pPr>
            <a:r>
              <a:rPr lang="en-US" sz="1800" b="1" dirty="0">
                <a:solidFill>
                  <a:schemeClr val="accent2"/>
                </a:solidFill>
              </a:rPr>
              <a:t>DANGEROUS</a:t>
            </a:r>
            <a:pPr indent="0" marL="0">
              <a:buNone/>
            </a:pPr>
            <a:r>
              <a:rPr lang="en-US" sz="1800" b="1" dirty="0">
                <a:solidFill>
                  <a:schemeClr val="tx1"/>
                </a:solidFill>
              </a:rPr>
              <a:t>   →  block</a:t>
            </a:r>
            <a:endParaRPr lang="en-US" sz="1800" dirty="0"/>
          </a:p>
        </p:txBody>
      </p:sp>
      <p:sp>
        <p:nvSpPr>
          <p:cNvPr id="31" name="Text 21"/>
          <p:cNvSpPr txBox="1"/>
          <p:nvPr/>
        </p:nvSpPr>
        <p:spPr>
          <a:xfrm>
            <a:off x="7680960" y="4873752"/>
            <a:ext cx="3840480" cy="365760"/>
          </a:xfrm>
          <a:prstGeom prst="rect">
            <a:avLst/>
          </a:prstGeom>
          <a:noFill/>
          <a:ln/>
        </p:spPr>
        <p:txBody>
          <a:bodyPr wrap="square" lIns="0" tIns="0" rIns="0" bIns="0" rtlCol="0" anchor="t"/>
          <a:lstStyle/>
          <a:p>
            <a:pPr indent="0" marL="0">
              <a:buNone/>
            </a:pPr>
            <a:r>
              <a:rPr lang="en-US" sz="1500" dirty="0">
                <a:solidFill>
                  <a:schemeClr val="tx1"/>
                </a:solidFill>
              </a:rPr>
              <a:t>Do not pay or reply.</a:t>
            </a:r>
            <a:endParaRPr lang="en-US" sz="1500" dirty="0"/>
          </a:p>
        </p:txBody>
      </p:sp>
      <p:sp>
        <p:nvSpPr>
          <p:cNvPr id="32" name="Text 22"/>
          <p:cNvSpPr txBox="1"/>
          <p:nvPr/>
        </p:nvSpPr>
        <p:spPr>
          <a:xfrm>
            <a:off x="548640" y="5806440"/>
            <a:ext cx="11064240" cy="365760"/>
          </a:xfrm>
          <a:prstGeom prst="rect">
            <a:avLst/>
          </a:prstGeom>
          <a:noFill/>
          <a:ln/>
        </p:spPr>
        <p:txBody>
          <a:bodyPr wrap="square" lIns="0" tIns="0" rIns="0" bIns="0" rtlCol="0" anchor="t"/>
          <a:lstStyle/>
          <a:p>
            <a:pPr indent="0" marL="0">
              <a:buNone/>
            </a:pPr>
            <a:r>
              <a:rPr lang="en-US" sz="1500" dirty="0">
                <a:solidFill>
                  <a:schemeClr val="accent6"/>
                </a:solidFill>
              </a:rPr>
              <a:t>Built for people and families, finance and accounts-payable teams, and AI agents that pay (through an API).</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58368"/>
          </a:xfrm>
          <a:prstGeom prst="rect">
            <a:avLst/>
          </a:prstGeom>
          <a:noFill/>
          <a:ln/>
        </p:spPr>
        <p:txBody>
          <a:bodyPr wrap="square" lIns="0" tIns="0" rIns="0" bIns="0" rtlCol="0" anchor="ctr"/>
          <a:lstStyle/>
          <a:p>
            <a:pPr algn="l" indent="0" marL="0">
              <a:buNone/>
            </a:pPr>
            <a:r>
              <a:rPr lang="en-US" sz="3400" b="1" dirty="0">
                <a:solidFill>
                  <a:schemeClr val="tx1"/>
                </a:solidFill>
              </a:rPr>
              <a:t>Three independent layers, one decision</a:t>
            </a:r>
            <a:endParaRPr lang="en-US" sz="34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indent="0" marL="0">
              <a:buNone/>
            </a:pPr>
            <a:r>
              <a:rPr lang="en-US" sz="1700" dirty="0">
                <a:solidFill>
                  <a:schemeClr val="accent6"/>
                </a:solidFill>
              </a:rPr>
              <a:t>Each layer gives its own signal. The fusion has floors that no single layer can talk down.</a:t>
            </a:r>
            <a:endParaRPr lang="en-US" sz="1700" dirty="0"/>
          </a:p>
        </p:txBody>
      </p:sp>
      <p:sp>
        <p:nvSpPr>
          <p:cNvPr id="4" name="Input"/>
          <p:cNvSpPr/>
          <p:nvPr/>
        </p:nvSpPr>
        <p:spPr>
          <a:xfrm>
            <a:off x="548640" y="1828800"/>
            <a:ext cx="1874520" cy="3108960"/>
          </a:xfrm>
          <a:prstGeom prst="roundRect">
            <a:avLst>
              <a:gd name="adj" fmla="val 5854"/>
            </a:avLst>
          </a:prstGeom>
          <a:solidFill>
            <a:schemeClr val="accent6">
              <a:alpha val="10000"/>
            </a:schemeClr>
          </a:solidFill>
          <a:ln/>
        </p:spPr>
      </p:sp>
      <p:sp>
        <p:nvSpPr>
          <p:cNvPr id="5" name="Text 3"/>
          <p:cNvSpPr txBox="1"/>
          <p:nvPr/>
        </p:nvSpPr>
        <p:spPr>
          <a:xfrm>
            <a:off x="731520" y="2011680"/>
            <a:ext cx="1554480" cy="2743200"/>
          </a:xfrm>
          <a:prstGeom prst="rect">
            <a:avLst/>
          </a:prstGeom>
          <a:noFill/>
          <a:ln/>
        </p:spPr>
        <p:txBody>
          <a:bodyPr wrap="square" lIns="0" tIns="0" rIns="0" bIns="0" rtlCol="0" anchor="ctr"/>
          <a:lstStyle/>
          <a:p>
            <a:pPr indent="0" marL="0">
              <a:buNone/>
            </a:pPr>
            <a:r>
              <a:rPr lang="en-US" sz="1700" b="1" dirty="0">
                <a:solidFill>
                  <a:schemeClr val="tx1"/>
                </a:solidFill>
              </a:rPr>
              <a:t>Input</a:t>
            </a:r>
            <a:endParaRPr lang="en-US" sz="1700" dirty="0"/>
          </a:p>
          <a:p>
            <a:pPr indent="0" marL="0">
              <a:buNone/>
            </a:pPr>
            <a:r>
              <a:rPr lang="en-US" sz="1400" dirty="0">
                <a:solidFill>
                  <a:schemeClr val="tx1"/>
                </a:solidFill>
              </a:rPr>
              <a:t>Message, plus sender, links and payment details if known</a:t>
            </a:r>
            <a:endParaRPr lang="en-US" sz="1700" dirty="0"/>
          </a:p>
        </p:txBody>
      </p:sp>
      <p:sp>
        <p:nvSpPr>
          <p:cNvPr id="6" name="Layer 1"/>
          <p:cNvSpPr/>
          <p:nvPr/>
        </p:nvSpPr>
        <p:spPr>
          <a:xfrm>
            <a:off x="2880360" y="1828800"/>
            <a:ext cx="4343400" cy="950976"/>
          </a:xfrm>
          <a:prstGeom prst="roundRect">
            <a:avLst>
              <a:gd name="adj" fmla="val 11538"/>
            </a:avLst>
          </a:prstGeom>
          <a:solidFill>
            <a:schemeClr val="bg2"/>
          </a:solidFill>
          <a:ln/>
        </p:spPr>
      </p:sp>
      <p:sp>
        <p:nvSpPr>
          <p:cNvPr id="7" name="Layer 1 circle"/>
          <p:cNvSpPr/>
          <p:nvPr/>
        </p:nvSpPr>
        <p:spPr>
          <a:xfrm>
            <a:off x="3017520" y="2011680"/>
            <a:ext cx="585216" cy="585216"/>
          </a:xfrm>
          <a:prstGeom prst="ellipse">
            <a:avLst/>
          </a:prstGeom>
          <a:solidFill>
            <a:schemeClr val="accent1"/>
          </a:solidFill>
          <a:ln/>
        </p:spPr>
      </p:sp>
      <p:pic>
        <p:nvPicPr>
          <p:cNvPr id="8" name="Layer 1 icon" descr="preencoded.png">    </p:cNvPr>
          <p:cNvPicPr>
            <a:picLocks noChangeAspect="1"/>
          </p:cNvPicPr>
          <p:nvPr/>
        </p:nvPicPr>
        <p:blipFill>
          <a:blip r:embed="rId1"/>
          <a:stretch>
            <a:fillRect/>
          </a:stretch>
        </p:blipFill>
        <p:spPr>
          <a:xfrm>
            <a:off x="3157972" y="2152132"/>
            <a:ext cx="304312" cy="304312"/>
          </a:xfrm>
          <a:prstGeom prst="rect">
            <a:avLst/>
          </a:prstGeom>
        </p:spPr>
      </p:pic>
      <p:sp>
        <p:nvSpPr>
          <p:cNvPr id="9" name="Text 6"/>
          <p:cNvSpPr txBox="1"/>
          <p:nvPr/>
        </p:nvSpPr>
        <p:spPr>
          <a:xfrm>
            <a:off x="3749040" y="1920240"/>
            <a:ext cx="3383280" cy="786384"/>
          </a:xfrm>
          <a:prstGeom prst="rect">
            <a:avLst/>
          </a:prstGeom>
          <a:noFill/>
          <a:ln/>
        </p:spPr>
        <p:txBody>
          <a:bodyPr wrap="square" lIns="0" tIns="0" rIns="0" bIns="0" rtlCol="0" anchor="ctr"/>
          <a:lstStyle/>
          <a:p>
            <a:pPr indent="0" marL="0">
              <a:buNone/>
            </a:pPr>
            <a:r>
              <a:rPr lang="en-US" sz="1600" b="1" dirty="0">
                <a:solidFill>
                  <a:schemeClr val="tx1"/>
                </a:solidFill>
              </a:rPr>
              <a:t>1  Rules + static link analysis</a:t>
            </a:r>
            <a:endParaRPr lang="en-US" sz="1600" dirty="0"/>
          </a:p>
          <a:p>
            <a:pPr indent="0" marL="0">
              <a:buNone/>
            </a:pPr>
            <a:r>
              <a:rPr lang="en-US" sz="1300" dirty="0">
                <a:solidFill>
                  <a:schemeClr val="tx1"/>
                </a:solidFill>
              </a:rPr>
              <a:t>Tactics, payee and sender checks, look-alike domains. Never visits a link.</a:t>
            </a:r>
            <a:endParaRPr lang="en-US" sz="1600" dirty="0"/>
          </a:p>
        </p:txBody>
      </p:sp>
      <p:sp>
        <p:nvSpPr>
          <p:cNvPr id="10" name="Arrow in 1"/>
          <p:cNvSpPr/>
          <p:nvPr/>
        </p:nvSpPr>
        <p:spPr>
          <a:xfrm>
            <a:off x="2468880" y="2304288"/>
            <a:ext cx="365760" cy="0"/>
          </a:xfrm>
          <a:prstGeom prst="line">
            <a:avLst/>
          </a:prstGeom>
          <a:noFill/>
          <a:ln w="15875">
            <a:solidFill>
              <a:schemeClr val="accent6"/>
            </a:solidFill>
            <a:prstDash val="solid"/>
            <a:tailEnd type="triangle"/>
          </a:ln>
        </p:spPr>
      </p:sp>
      <p:sp>
        <p:nvSpPr>
          <p:cNvPr id="11" name="Arrow out 1"/>
          <p:cNvSpPr/>
          <p:nvPr/>
        </p:nvSpPr>
        <p:spPr>
          <a:xfrm>
            <a:off x="7269480" y="2304288"/>
            <a:ext cx="365760" cy="0"/>
          </a:xfrm>
          <a:prstGeom prst="line">
            <a:avLst/>
          </a:prstGeom>
          <a:noFill/>
          <a:ln w="15875">
            <a:solidFill>
              <a:schemeClr val="accent6"/>
            </a:solidFill>
            <a:prstDash val="solid"/>
            <a:tailEnd type="triangle"/>
          </a:ln>
        </p:spPr>
      </p:sp>
      <p:sp>
        <p:nvSpPr>
          <p:cNvPr id="12" name="Layer 2"/>
          <p:cNvSpPr/>
          <p:nvPr/>
        </p:nvSpPr>
        <p:spPr>
          <a:xfrm>
            <a:off x="2880360" y="2907792"/>
            <a:ext cx="4343400" cy="950976"/>
          </a:xfrm>
          <a:prstGeom prst="roundRect">
            <a:avLst>
              <a:gd name="adj" fmla="val 11538"/>
            </a:avLst>
          </a:prstGeom>
          <a:solidFill>
            <a:schemeClr val="bg2"/>
          </a:solidFill>
          <a:ln/>
        </p:spPr>
      </p:sp>
      <p:sp>
        <p:nvSpPr>
          <p:cNvPr id="13" name="Layer 2 circle"/>
          <p:cNvSpPr/>
          <p:nvPr/>
        </p:nvSpPr>
        <p:spPr>
          <a:xfrm>
            <a:off x="3017520" y="3090672"/>
            <a:ext cx="585216" cy="585216"/>
          </a:xfrm>
          <a:prstGeom prst="ellipse">
            <a:avLst/>
          </a:prstGeom>
          <a:solidFill>
            <a:schemeClr val="accent1"/>
          </a:solidFill>
          <a:ln/>
        </p:spPr>
      </p:sp>
      <p:pic>
        <p:nvPicPr>
          <p:cNvPr id="14" name="Layer 2 icon" descr="preencoded.png">    </p:cNvPr>
          <p:cNvPicPr>
            <a:picLocks noChangeAspect="1"/>
          </p:cNvPicPr>
          <p:nvPr/>
        </p:nvPicPr>
        <p:blipFill>
          <a:blip r:embed="rId2"/>
          <a:stretch>
            <a:fillRect/>
          </a:stretch>
        </p:blipFill>
        <p:spPr>
          <a:xfrm>
            <a:off x="3157972" y="3231124"/>
            <a:ext cx="304312" cy="304312"/>
          </a:xfrm>
          <a:prstGeom prst="rect">
            <a:avLst/>
          </a:prstGeom>
        </p:spPr>
      </p:pic>
      <p:sp>
        <p:nvSpPr>
          <p:cNvPr id="15" name="Text 11"/>
          <p:cNvSpPr txBox="1"/>
          <p:nvPr/>
        </p:nvSpPr>
        <p:spPr>
          <a:xfrm>
            <a:off x="3749040" y="2999232"/>
            <a:ext cx="3383280" cy="786384"/>
          </a:xfrm>
          <a:prstGeom prst="rect">
            <a:avLst/>
          </a:prstGeom>
          <a:noFill/>
          <a:ln/>
        </p:spPr>
        <p:txBody>
          <a:bodyPr wrap="square" lIns="0" tIns="0" rIns="0" bIns="0" rtlCol="0" anchor="ctr"/>
          <a:lstStyle/>
          <a:p>
            <a:pPr indent="0" marL="0">
              <a:buNone/>
            </a:pPr>
            <a:r>
              <a:rPr lang="en-US" sz="1600" b="1" dirty="0">
                <a:solidFill>
                  <a:schemeClr val="tx1"/>
                </a:solidFill>
              </a:rPr>
              <a:t>2  Text classifier</a:t>
            </a:r>
            <a:endParaRPr lang="en-US" sz="1600" dirty="0"/>
          </a:p>
          <a:p>
            <a:pPr indent="0" marL="0">
              <a:buNone/>
            </a:pPr>
            <a:r>
              <a:rPr lang="en-US" sz="1300" dirty="0">
                <a:solidFill>
                  <a:schemeClr val="tx1"/>
                </a:solidFill>
              </a:rPr>
              <a:t>TF-IDF + logistic regression on open spam corpora. English only.</a:t>
            </a:r>
            <a:endParaRPr lang="en-US" sz="1600" dirty="0"/>
          </a:p>
        </p:txBody>
      </p:sp>
      <p:sp>
        <p:nvSpPr>
          <p:cNvPr id="16" name="Arrow in 2"/>
          <p:cNvSpPr/>
          <p:nvPr/>
        </p:nvSpPr>
        <p:spPr>
          <a:xfrm>
            <a:off x="2468880" y="3383280"/>
            <a:ext cx="365760" cy="0"/>
          </a:xfrm>
          <a:prstGeom prst="line">
            <a:avLst/>
          </a:prstGeom>
          <a:noFill/>
          <a:ln w="15875">
            <a:solidFill>
              <a:schemeClr val="accent6"/>
            </a:solidFill>
            <a:prstDash val="solid"/>
            <a:tailEnd type="triangle"/>
          </a:ln>
        </p:spPr>
      </p:sp>
      <p:sp>
        <p:nvSpPr>
          <p:cNvPr id="17" name="Arrow out 2"/>
          <p:cNvSpPr/>
          <p:nvPr/>
        </p:nvSpPr>
        <p:spPr>
          <a:xfrm>
            <a:off x="7269480" y="3383280"/>
            <a:ext cx="365760" cy="0"/>
          </a:xfrm>
          <a:prstGeom prst="line">
            <a:avLst/>
          </a:prstGeom>
          <a:noFill/>
          <a:ln w="15875">
            <a:solidFill>
              <a:schemeClr val="accent6"/>
            </a:solidFill>
            <a:prstDash val="solid"/>
            <a:tailEnd type="triangle"/>
          </a:ln>
        </p:spPr>
      </p:sp>
      <p:sp>
        <p:nvSpPr>
          <p:cNvPr id="18" name="Layer 3"/>
          <p:cNvSpPr/>
          <p:nvPr/>
        </p:nvSpPr>
        <p:spPr>
          <a:xfrm>
            <a:off x="2880360" y="3986784"/>
            <a:ext cx="4343400" cy="950976"/>
          </a:xfrm>
          <a:prstGeom prst="roundRect">
            <a:avLst>
              <a:gd name="adj" fmla="val 11538"/>
            </a:avLst>
          </a:prstGeom>
          <a:solidFill>
            <a:schemeClr val="bg2"/>
          </a:solidFill>
          <a:ln/>
        </p:spPr>
      </p:sp>
      <p:sp>
        <p:nvSpPr>
          <p:cNvPr id="19" name="Layer 3 circle"/>
          <p:cNvSpPr/>
          <p:nvPr/>
        </p:nvSpPr>
        <p:spPr>
          <a:xfrm>
            <a:off x="3017520" y="4169664"/>
            <a:ext cx="585216" cy="585216"/>
          </a:xfrm>
          <a:prstGeom prst="ellipse">
            <a:avLst/>
          </a:prstGeom>
          <a:solidFill>
            <a:schemeClr val="accent1"/>
          </a:solidFill>
          <a:ln/>
        </p:spPr>
      </p:sp>
      <p:pic>
        <p:nvPicPr>
          <p:cNvPr id="20" name="Layer 3 icon" descr="preencoded.png">    </p:cNvPr>
          <p:cNvPicPr>
            <a:picLocks noChangeAspect="1"/>
          </p:cNvPicPr>
          <p:nvPr/>
        </p:nvPicPr>
        <p:blipFill>
          <a:blip r:embed="rId3"/>
          <a:stretch>
            <a:fillRect/>
          </a:stretch>
        </p:blipFill>
        <p:spPr>
          <a:xfrm>
            <a:off x="3157972" y="4310116"/>
            <a:ext cx="304312" cy="304312"/>
          </a:xfrm>
          <a:prstGeom prst="rect">
            <a:avLst/>
          </a:prstGeom>
        </p:spPr>
      </p:pic>
      <p:sp>
        <p:nvSpPr>
          <p:cNvPr id="21" name="Text 16"/>
          <p:cNvSpPr txBox="1"/>
          <p:nvPr/>
        </p:nvSpPr>
        <p:spPr>
          <a:xfrm>
            <a:off x="3749040" y="4078224"/>
            <a:ext cx="3383280" cy="786384"/>
          </a:xfrm>
          <a:prstGeom prst="rect">
            <a:avLst/>
          </a:prstGeom>
          <a:noFill/>
          <a:ln/>
        </p:spPr>
        <p:txBody>
          <a:bodyPr wrap="square" lIns="0" tIns="0" rIns="0" bIns="0" rtlCol="0" anchor="ctr"/>
          <a:lstStyle/>
          <a:p>
            <a:pPr indent="0" marL="0">
              <a:buNone/>
            </a:pPr>
            <a:r>
              <a:rPr lang="en-US" sz="1600" b="1" dirty="0">
                <a:solidFill>
                  <a:schemeClr val="tx1"/>
                </a:solidFill>
              </a:rPr>
              <a:t>3  AI analyst</a:t>
            </a:r>
            <a:endParaRPr lang="en-US" sz="1600" dirty="0"/>
          </a:p>
          <a:p>
            <a:pPr indent="0" marL="0">
              <a:buNone/>
            </a:pPr>
            <a:r>
              <a:rPr lang="en-US" sz="1300" dirty="0">
                <a:solidFill>
                  <a:schemeClr val="tx1"/>
                </a:solidFill>
              </a:rPr>
              <a:t>Qwen2.5-14B reads the fenced message and the other layers' findings.</a:t>
            </a:r>
            <a:endParaRPr lang="en-US" sz="1600" dirty="0"/>
          </a:p>
        </p:txBody>
      </p:sp>
      <p:sp>
        <p:nvSpPr>
          <p:cNvPr id="22" name="Arrow in 3"/>
          <p:cNvSpPr/>
          <p:nvPr/>
        </p:nvSpPr>
        <p:spPr>
          <a:xfrm>
            <a:off x="2468880" y="4462272"/>
            <a:ext cx="365760" cy="0"/>
          </a:xfrm>
          <a:prstGeom prst="line">
            <a:avLst/>
          </a:prstGeom>
          <a:noFill/>
          <a:ln w="15875">
            <a:solidFill>
              <a:schemeClr val="accent6"/>
            </a:solidFill>
            <a:prstDash val="solid"/>
            <a:tailEnd type="triangle"/>
          </a:ln>
        </p:spPr>
      </p:sp>
      <p:sp>
        <p:nvSpPr>
          <p:cNvPr id="23" name="Arrow out 3"/>
          <p:cNvSpPr/>
          <p:nvPr/>
        </p:nvSpPr>
        <p:spPr>
          <a:xfrm>
            <a:off x="7269480" y="4462272"/>
            <a:ext cx="365760" cy="0"/>
          </a:xfrm>
          <a:prstGeom prst="line">
            <a:avLst/>
          </a:prstGeom>
          <a:noFill/>
          <a:ln w="15875">
            <a:solidFill>
              <a:schemeClr val="accent6"/>
            </a:solidFill>
            <a:prstDash val="solid"/>
            <a:tailEnd type="triangle"/>
          </a:ln>
        </p:spPr>
      </p:sp>
      <p:sp>
        <p:nvSpPr>
          <p:cNvPr id="24" name="Fusion"/>
          <p:cNvSpPr/>
          <p:nvPr/>
        </p:nvSpPr>
        <p:spPr>
          <a:xfrm>
            <a:off x="7680960" y="1828800"/>
            <a:ext cx="2103120" cy="3108960"/>
          </a:xfrm>
          <a:prstGeom prst="roundRect">
            <a:avLst>
              <a:gd name="adj" fmla="val 5217"/>
            </a:avLst>
          </a:prstGeom>
          <a:solidFill>
            <a:schemeClr val="accent1">
              <a:alpha val="12000"/>
            </a:schemeClr>
          </a:solidFill>
          <a:ln/>
        </p:spPr>
      </p:sp>
      <p:sp>
        <p:nvSpPr>
          <p:cNvPr id="25" name="Text 20"/>
          <p:cNvSpPr txBox="1"/>
          <p:nvPr/>
        </p:nvSpPr>
        <p:spPr>
          <a:xfrm>
            <a:off x="7863840" y="2011680"/>
            <a:ext cx="1783080" cy="2743200"/>
          </a:xfrm>
          <a:prstGeom prst="rect">
            <a:avLst/>
          </a:prstGeom>
          <a:noFill/>
          <a:ln/>
        </p:spPr>
        <p:txBody>
          <a:bodyPr wrap="square" lIns="0" tIns="0" rIns="0" bIns="0" rtlCol="0" anchor="ctr"/>
          <a:lstStyle/>
          <a:p>
            <a:pPr indent="0" marL="0">
              <a:buNone/>
            </a:pPr>
            <a:r>
              <a:rPr lang="en-US" sz="1700" b="1" dirty="0">
                <a:solidFill>
                  <a:schemeClr val="tx1"/>
                </a:solidFill>
              </a:rPr>
              <a:t>Fusion</a:t>
            </a:r>
            <a:endParaRPr lang="en-US" sz="1700" dirty="0"/>
          </a:p>
          <a:p>
            <a:pPr indent="0" marL="0">
              <a:buNone/>
            </a:pPr>
            <a:r>
              <a:rPr lang="en-US" sz="1400" dirty="0">
                <a:solidFill>
                  <a:schemeClr val="tx1"/>
                </a:solidFill>
              </a:rPr>
              <a:t>Weights 0.45 / 0.20 / 0.35</a:t>
            </a:r>
            <a:endParaRPr lang="en-US" sz="1700" dirty="0"/>
          </a:p>
          <a:p>
            <a:pPr indent="0" marL="0">
              <a:buNone/>
            </a:pPr>
            <a:r>
              <a:rPr lang="en-US" sz="800" dirty="0">
                <a:solidFill>
                  <a:schemeClr val="tx1"/>
                </a:solidFill>
              </a:rPr>
              <a:t> </a:t>
            </a:r>
            <a:endParaRPr lang="en-US" sz="1700" dirty="0"/>
          </a:p>
          <a:p>
            <a:pPr indent="0" marL="0">
              <a:buNone/>
            </a:pPr>
            <a:r>
              <a:rPr lang="en-US" sz="1400" dirty="0">
                <a:solidFill>
                  <a:schemeClr val="tx1"/>
                </a:solidFill>
              </a:rPr>
              <a:t>Floors: a critical rule combination holds; a confident analyst holds</a:t>
            </a:r>
            <a:endParaRPr lang="en-US" sz="1700" dirty="0"/>
          </a:p>
        </p:txBody>
      </p:sp>
      <p:sp>
        <p:nvSpPr>
          <p:cNvPr id="26" name="Arrow to output"/>
          <p:cNvSpPr/>
          <p:nvPr/>
        </p:nvSpPr>
        <p:spPr>
          <a:xfrm>
            <a:off x="9829800" y="3383280"/>
            <a:ext cx="365760" cy="0"/>
          </a:xfrm>
          <a:prstGeom prst="line">
            <a:avLst/>
          </a:prstGeom>
          <a:noFill/>
          <a:ln w="15875">
            <a:solidFill>
              <a:schemeClr val="accent6"/>
            </a:solidFill>
            <a:prstDash val="solid"/>
            <a:tailEnd type="triangle"/>
          </a:ln>
        </p:spPr>
      </p:sp>
      <p:sp>
        <p:nvSpPr>
          <p:cNvPr id="27" name="Output"/>
          <p:cNvSpPr/>
          <p:nvPr/>
        </p:nvSpPr>
        <p:spPr>
          <a:xfrm>
            <a:off x="10241280" y="1828800"/>
            <a:ext cx="1399032" cy="3108960"/>
          </a:xfrm>
          <a:prstGeom prst="roundRect">
            <a:avLst>
              <a:gd name="adj" fmla="val 7843"/>
            </a:avLst>
          </a:prstGeom>
          <a:solidFill>
            <a:schemeClr val="bg2"/>
          </a:solidFill>
          <a:ln/>
        </p:spPr>
      </p:sp>
      <p:sp>
        <p:nvSpPr>
          <p:cNvPr id="28" name="Text 23"/>
          <p:cNvSpPr txBox="1"/>
          <p:nvPr/>
        </p:nvSpPr>
        <p:spPr>
          <a:xfrm>
            <a:off x="10332720" y="1965960"/>
            <a:ext cx="1234440" cy="640080"/>
          </a:xfrm>
          <a:prstGeom prst="rect">
            <a:avLst/>
          </a:prstGeom>
          <a:noFill/>
          <a:ln/>
        </p:spPr>
        <p:txBody>
          <a:bodyPr wrap="square" lIns="0" tIns="0" rIns="0" bIns="0" rtlCol="0" anchor="t"/>
          <a:lstStyle/>
          <a:p>
            <a:pPr algn="ctr" indent="0" marL="0">
              <a:buNone/>
            </a:pPr>
            <a:r>
              <a:rPr lang="en-US" sz="1500" b="1" dirty="0">
                <a:solidFill>
                  <a:schemeClr val="tx1"/>
                </a:solidFill>
              </a:rPr>
              <a:t>Verdict and action</a:t>
            </a:r>
            <a:endParaRPr lang="en-US" sz="1500" dirty="0"/>
          </a:p>
        </p:txBody>
      </p:sp>
      <p:sp>
        <p:nvSpPr>
          <p:cNvPr id="29" name="Action proceed"/>
          <p:cNvSpPr/>
          <p:nvPr/>
        </p:nvSpPr>
        <p:spPr>
          <a:xfrm>
            <a:off x="10405872" y="2788920"/>
            <a:ext cx="1069848" cy="438912"/>
          </a:xfrm>
          <a:prstGeom prst="roundRect">
            <a:avLst>
              <a:gd name="adj" fmla="val 50000"/>
            </a:avLst>
          </a:prstGeom>
          <a:solidFill>
            <a:schemeClr val="accent4">
              <a:alpha val="15000"/>
            </a:schemeClr>
          </a:solidFill>
          <a:ln w="12700">
            <a:solidFill>
              <a:schemeClr val="accent4"/>
            </a:solidFill>
            <a:prstDash val="solid"/>
          </a:ln>
        </p:spPr>
      </p:sp>
      <p:sp>
        <p:nvSpPr>
          <p:cNvPr id="30" name="Text 25"/>
          <p:cNvSpPr txBox="1"/>
          <p:nvPr/>
        </p:nvSpPr>
        <p:spPr>
          <a:xfrm>
            <a:off x="10405872" y="2788920"/>
            <a:ext cx="1069848" cy="438912"/>
          </a:xfrm>
          <a:prstGeom prst="rect">
            <a:avLst/>
          </a:prstGeom>
          <a:noFill/>
          <a:ln/>
        </p:spPr>
        <p:txBody>
          <a:bodyPr wrap="square" lIns="0" tIns="0" rIns="0" bIns="0" rtlCol="0" anchor="ctr"/>
          <a:lstStyle/>
          <a:p>
            <a:pPr algn="ctr" indent="0" marL="0">
              <a:buNone/>
            </a:pPr>
            <a:r>
              <a:rPr lang="en-US" sz="1400" b="1" dirty="0">
                <a:solidFill>
                  <a:schemeClr val="accent4"/>
                </a:solidFill>
              </a:rPr>
              <a:t>proceed</a:t>
            </a:r>
            <a:endParaRPr lang="en-US" sz="1400" dirty="0"/>
          </a:p>
        </p:txBody>
      </p:sp>
      <p:sp>
        <p:nvSpPr>
          <p:cNvPr id="31" name="Action hold"/>
          <p:cNvSpPr/>
          <p:nvPr/>
        </p:nvSpPr>
        <p:spPr>
          <a:xfrm>
            <a:off x="10405872" y="3410712"/>
            <a:ext cx="1069848" cy="438912"/>
          </a:xfrm>
          <a:prstGeom prst="roundRect">
            <a:avLst>
              <a:gd name="adj" fmla="val 50000"/>
            </a:avLst>
          </a:prstGeom>
          <a:solidFill>
            <a:schemeClr val="accent3">
              <a:alpha val="15000"/>
            </a:schemeClr>
          </a:solidFill>
          <a:ln w="12700">
            <a:solidFill>
              <a:schemeClr val="accent3"/>
            </a:solidFill>
            <a:prstDash val="solid"/>
          </a:ln>
        </p:spPr>
      </p:sp>
      <p:sp>
        <p:nvSpPr>
          <p:cNvPr id="32" name="Text 27"/>
          <p:cNvSpPr txBox="1"/>
          <p:nvPr/>
        </p:nvSpPr>
        <p:spPr>
          <a:xfrm>
            <a:off x="10405872" y="3410712"/>
            <a:ext cx="1069848" cy="438912"/>
          </a:xfrm>
          <a:prstGeom prst="rect">
            <a:avLst/>
          </a:prstGeom>
          <a:noFill/>
          <a:ln/>
        </p:spPr>
        <p:txBody>
          <a:bodyPr wrap="square" lIns="0" tIns="0" rIns="0" bIns="0" rtlCol="0" anchor="ctr"/>
          <a:lstStyle/>
          <a:p>
            <a:pPr algn="ctr" indent="0" marL="0">
              <a:buNone/>
            </a:pPr>
            <a:r>
              <a:rPr lang="en-US" sz="1400" b="1" dirty="0">
                <a:solidFill>
                  <a:srgbClr val="9A5600"/>
                </a:solidFill>
              </a:rPr>
              <a:t>hold</a:t>
            </a:r>
            <a:endParaRPr lang="en-US" sz="1400" dirty="0"/>
          </a:p>
        </p:txBody>
      </p:sp>
      <p:sp>
        <p:nvSpPr>
          <p:cNvPr id="33" name="Action block"/>
          <p:cNvSpPr/>
          <p:nvPr/>
        </p:nvSpPr>
        <p:spPr>
          <a:xfrm>
            <a:off x="10405872" y="4032504"/>
            <a:ext cx="1069848" cy="438912"/>
          </a:xfrm>
          <a:prstGeom prst="roundRect">
            <a:avLst>
              <a:gd name="adj" fmla="val 50000"/>
            </a:avLst>
          </a:prstGeom>
          <a:solidFill>
            <a:schemeClr val="accent2">
              <a:alpha val="15000"/>
            </a:schemeClr>
          </a:solidFill>
          <a:ln w="12700">
            <a:solidFill>
              <a:schemeClr val="accent2"/>
            </a:solidFill>
            <a:prstDash val="solid"/>
          </a:ln>
        </p:spPr>
      </p:sp>
      <p:sp>
        <p:nvSpPr>
          <p:cNvPr id="34" name="Text 29"/>
          <p:cNvSpPr txBox="1"/>
          <p:nvPr/>
        </p:nvSpPr>
        <p:spPr>
          <a:xfrm>
            <a:off x="10405872" y="4032504"/>
            <a:ext cx="1069848" cy="438912"/>
          </a:xfrm>
          <a:prstGeom prst="rect">
            <a:avLst/>
          </a:prstGeom>
          <a:noFill/>
          <a:ln/>
        </p:spPr>
        <p:txBody>
          <a:bodyPr wrap="square" lIns="0" tIns="0" rIns="0" bIns="0" rtlCol="0" anchor="ctr"/>
          <a:lstStyle/>
          <a:p>
            <a:pPr algn="ctr" indent="0" marL="0">
              <a:buNone/>
            </a:pPr>
            <a:r>
              <a:rPr lang="en-US" sz="1400" b="1" dirty="0">
                <a:solidFill>
                  <a:schemeClr val="accent2"/>
                </a:solidFill>
              </a:rPr>
              <a:t>block</a:t>
            </a:r>
            <a:endParaRPr lang="en-US" sz="1400" dirty="0"/>
          </a:p>
        </p:txBody>
      </p:sp>
      <p:sp>
        <p:nvSpPr>
          <p:cNvPr id="35" name="Injection shield"/>
          <p:cNvSpPr/>
          <p:nvPr/>
        </p:nvSpPr>
        <p:spPr>
          <a:xfrm>
            <a:off x="548640" y="5212080"/>
            <a:ext cx="5449824" cy="1005840"/>
          </a:xfrm>
          <a:prstGeom prst="roundRect">
            <a:avLst>
              <a:gd name="adj" fmla="val 10909"/>
            </a:avLst>
          </a:prstGeom>
          <a:solidFill>
            <a:schemeClr val="bg2"/>
          </a:solidFill>
          <a:ln/>
        </p:spPr>
      </p:sp>
      <p:sp>
        <p:nvSpPr>
          <p:cNvPr id="36" name="Injection shield circle"/>
          <p:cNvSpPr/>
          <p:nvPr/>
        </p:nvSpPr>
        <p:spPr>
          <a:xfrm>
            <a:off x="731520" y="5413248"/>
            <a:ext cx="603504" cy="603504"/>
          </a:xfrm>
          <a:prstGeom prst="ellipse">
            <a:avLst/>
          </a:prstGeom>
          <a:solidFill>
            <a:schemeClr val="accent1">
              <a:alpha val="14000"/>
            </a:schemeClr>
          </a:solidFill>
          <a:ln/>
        </p:spPr>
      </p:sp>
      <p:pic>
        <p:nvPicPr>
          <p:cNvPr id="37" name="Injection shield icon" descr="preencoded.png">    </p:cNvPr>
          <p:cNvPicPr>
            <a:picLocks noChangeAspect="1"/>
          </p:cNvPicPr>
          <p:nvPr/>
        </p:nvPicPr>
        <p:blipFill>
          <a:blip r:embed="rId4"/>
          <a:stretch>
            <a:fillRect/>
          </a:stretch>
        </p:blipFill>
        <p:spPr>
          <a:xfrm>
            <a:off x="876361" y="5558089"/>
            <a:ext cx="313822" cy="313822"/>
          </a:xfrm>
          <a:prstGeom prst="rect">
            <a:avLst/>
          </a:prstGeom>
        </p:spPr>
      </p:pic>
      <p:sp>
        <p:nvSpPr>
          <p:cNvPr id="38" name="Text 32"/>
          <p:cNvSpPr txBox="1"/>
          <p:nvPr/>
        </p:nvSpPr>
        <p:spPr>
          <a:xfrm>
            <a:off x="1508760" y="5285232"/>
            <a:ext cx="4343400" cy="868680"/>
          </a:xfrm>
          <a:prstGeom prst="rect">
            <a:avLst/>
          </a:prstGeom>
          <a:noFill/>
          <a:ln/>
        </p:spPr>
        <p:txBody>
          <a:bodyPr wrap="square" lIns="0" tIns="0" rIns="0" bIns="0" rtlCol="0" anchor="ctr"/>
          <a:lstStyle/>
          <a:p>
            <a:pPr indent="0" marL="0">
              <a:buNone/>
            </a:pPr>
            <a:r>
              <a:rPr lang="en-US" sz="1500" b="1" dirty="0">
                <a:solidFill>
                  <a:schemeClr val="tx1"/>
                </a:solidFill>
              </a:rPr>
              <a:t>Injection shield</a:t>
            </a:r>
            <a:endParaRPr lang="en-US" sz="1500" dirty="0"/>
          </a:p>
          <a:p>
            <a:pPr indent="0" marL="0">
              <a:buNone/>
            </a:pPr>
            <a:r>
              <a:rPr lang="en-US" sz="1300" dirty="0">
                <a:solidFill>
                  <a:schemeClr val="tx1"/>
                </a:solidFill>
              </a:rPr>
              <a:t>Hidden text revealed, an integrity code in every answer, and when a message targets AI the analyst can only add risk.</a:t>
            </a:r>
            <a:endParaRPr lang="en-US" sz="1500" dirty="0"/>
          </a:p>
        </p:txBody>
      </p:sp>
      <p:sp>
        <p:nvSpPr>
          <p:cNvPr id="39" name="Two-phase answer"/>
          <p:cNvSpPr/>
          <p:nvPr/>
        </p:nvSpPr>
        <p:spPr>
          <a:xfrm>
            <a:off x="6190488" y="5212080"/>
            <a:ext cx="5449824" cy="1005840"/>
          </a:xfrm>
          <a:prstGeom prst="roundRect">
            <a:avLst>
              <a:gd name="adj" fmla="val 10909"/>
            </a:avLst>
          </a:prstGeom>
          <a:solidFill>
            <a:schemeClr val="bg2"/>
          </a:solidFill>
          <a:ln/>
        </p:spPr>
      </p:sp>
      <p:sp>
        <p:nvSpPr>
          <p:cNvPr id="40" name="Two-phase answer circle"/>
          <p:cNvSpPr/>
          <p:nvPr/>
        </p:nvSpPr>
        <p:spPr>
          <a:xfrm>
            <a:off x="6373368" y="5413248"/>
            <a:ext cx="603504" cy="603504"/>
          </a:xfrm>
          <a:prstGeom prst="ellipse">
            <a:avLst/>
          </a:prstGeom>
          <a:solidFill>
            <a:schemeClr val="accent1">
              <a:alpha val="14000"/>
            </a:schemeClr>
          </a:solidFill>
          <a:ln/>
        </p:spPr>
      </p:sp>
      <p:pic>
        <p:nvPicPr>
          <p:cNvPr id="41" name="Two-phase answer icon" descr="preencoded.png">    </p:cNvPr>
          <p:cNvPicPr>
            <a:picLocks noChangeAspect="1"/>
          </p:cNvPicPr>
          <p:nvPr/>
        </p:nvPicPr>
        <p:blipFill>
          <a:blip r:embed="rId5"/>
          <a:stretch>
            <a:fillRect/>
          </a:stretch>
        </p:blipFill>
        <p:spPr>
          <a:xfrm>
            <a:off x="6518209" y="5558089"/>
            <a:ext cx="313822" cy="313822"/>
          </a:xfrm>
          <a:prstGeom prst="rect">
            <a:avLst/>
          </a:prstGeom>
        </p:spPr>
      </p:pic>
      <p:sp>
        <p:nvSpPr>
          <p:cNvPr id="42" name="Text 35"/>
          <p:cNvSpPr txBox="1"/>
          <p:nvPr/>
        </p:nvSpPr>
        <p:spPr>
          <a:xfrm>
            <a:off x="7150608" y="5285232"/>
            <a:ext cx="4343400" cy="868680"/>
          </a:xfrm>
          <a:prstGeom prst="rect">
            <a:avLst/>
          </a:prstGeom>
          <a:noFill/>
          <a:ln/>
        </p:spPr>
        <p:txBody>
          <a:bodyPr wrap="square" lIns="0" tIns="0" rIns="0" bIns="0" rtlCol="0" anchor="ctr"/>
          <a:lstStyle/>
          <a:p>
            <a:pPr indent="0" marL="0">
              <a:buNone/>
            </a:pPr>
            <a:r>
              <a:rPr lang="en-US" sz="1500" b="1" dirty="0">
                <a:solidFill>
                  <a:schemeClr val="tx1"/>
                </a:solidFill>
              </a:rPr>
              <a:t>Two-phase answer</a:t>
            </a:r>
            <a:endParaRPr lang="en-US" sz="1500" dirty="0"/>
          </a:p>
          <a:p>
            <a:pPr indent="0" marL="0">
              <a:buNone/>
            </a:pPr>
            <a:r>
              <a:rPr lang="en-US" sz="1300" dirty="0">
                <a:solidFill>
                  <a:schemeClr val="tx1"/>
                </a:solidFill>
              </a:rPr>
              <a:t>Rules + classifier answer at once (about 50 ms); the AI analyst refines it a few seconds later (about 7 s).</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58368"/>
          </a:xfrm>
          <a:prstGeom prst="rect">
            <a:avLst/>
          </a:prstGeom>
          <a:noFill/>
          <a:ln/>
        </p:spPr>
        <p:txBody>
          <a:bodyPr wrap="square" lIns="0" tIns="0" rIns="0" bIns="0" rtlCol="0" anchor="ctr"/>
          <a:lstStyle/>
          <a:p>
            <a:pPr algn="l" indent="0" marL="0">
              <a:buNone/>
            </a:pPr>
            <a:r>
              <a:rPr lang="en-US" sz="3400" b="1" dirty="0">
                <a:solidFill>
                  <a:schemeClr val="tx1"/>
                </a:solidFill>
              </a:rPr>
              <a:t>What the user sees</a:t>
            </a:r>
            <a:endParaRPr lang="en-US" sz="34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indent="0" marL="0">
              <a:buNone/>
            </a:pPr>
            <a:r>
              <a:rPr lang="en-US" sz="1700" dirty="0">
                <a:solidFill>
                  <a:schemeClr val="accent6"/>
                </a:solidFill>
              </a:rPr>
              <a:t>The live app (trustgate-k45p.onrender.com) with its 'Dangerous' example, a fake bank-security text. All names are fictional.</a:t>
            </a:r>
            <a:endParaRPr lang="en-US" sz="1700" dirty="0"/>
          </a:p>
        </p:txBody>
      </p:sp>
      <p:sp>
        <p:nvSpPr>
          <p:cNvPr id="4" name="Screenshot: dangerous verdict frame"/>
          <p:cNvSpPr/>
          <p:nvPr/>
        </p:nvSpPr>
        <p:spPr>
          <a:xfrm>
            <a:off x="512064" y="1655064"/>
            <a:ext cx="6885432" cy="4581278"/>
          </a:xfrm>
          <a:prstGeom prst="rect">
            <a:avLst/>
          </a:prstGeom>
          <a:solidFill>
            <a:schemeClr val="bg1"/>
          </a:solidFill>
          <a:ln w="9525">
            <a:solidFill>
              <a:srgbClr val="E2E5EF"/>
            </a:solidFill>
            <a:prstDash val="solid"/>
          </a:ln>
          <a:effectLst>
            <a:outerShdw sx="100000" sy="100000" kx="0" ky="0" algn="bl" rotWithShape="0" blurRad="127000" dist="25400" dir="5400000">
              <a:srgbClr val="141A33">
                <a:alpha val="12000"/>
              </a:srgbClr>
            </a:outerShdw>
          </a:effectLst>
        </p:spPr>
      </p:sp>
      <p:pic>
        <p:nvPicPr>
          <p:cNvPr id="5" name="Screenshot: dangerous verdict" descr="Screenshot: dangerous verdict">    </p:cNvPr>
          <p:cNvPicPr>
            <a:picLocks noChangeAspect="1"/>
          </p:cNvPicPr>
          <p:nvPr/>
        </p:nvPicPr>
        <p:blipFill>
          <a:blip r:embed="rId1"/>
          <a:stretch>
            <a:fillRect/>
          </a:stretch>
        </p:blipFill>
        <p:spPr>
          <a:xfrm>
            <a:off x="548640" y="1691640"/>
            <a:ext cx="6812280" cy="4508126"/>
          </a:xfrm>
          <a:prstGeom prst="rect">
            <a:avLst/>
          </a:prstGeom>
        </p:spPr>
      </p:pic>
      <p:sp>
        <p:nvSpPr>
          <p:cNvPr id="6" name="Callout 1"/>
          <p:cNvSpPr/>
          <p:nvPr/>
        </p:nvSpPr>
        <p:spPr>
          <a:xfrm>
            <a:off x="7818120" y="1783080"/>
            <a:ext cx="457200" cy="457200"/>
          </a:xfrm>
          <a:prstGeom prst="ellipse">
            <a:avLst/>
          </a:prstGeom>
          <a:solidFill>
            <a:schemeClr val="accent1"/>
          </a:solidFill>
          <a:ln/>
        </p:spPr>
      </p:sp>
      <p:sp>
        <p:nvSpPr>
          <p:cNvPr id="7" name="Text 4"/>
          <p:cNvSpPr txBox="1"/>
          <p:nvPr/>
        </p:nvSpPr>
        <p:spPr>
          <a:xfrm>
            <a:off x="7818120" y="1783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8458200" y="1746504"/>
            <a:ext cx="3182112" cy="960120"/>
          </a:xfrm>
          <a:prstGeom prst="rect">
            <a:avLst/>
          </a:prstGeom>
          <a:noFill/>
          <a:ln/>
        </p:spPr>
        <p:txBody>
          <a:bodyPr wrap="square" lIns="0" tIns="0" rIns="0" bIns="0" rtlCol="0" anchor="t"/>
          <a:lstStyle/>
          <a:p>
            <a:pPr indent="0" marL="0">
              <a:buNone/>
            </a:pPr>
            <a:r>
              <a:rPr lang="en-US" sz="1600" b="1" dirty="0">
                <a:solidFill>
                  <a:schemeClr val="tx1"/>
                </a:solidFill>
              </a:rPr>
              <a:t>Score, verdict and action</a:t>
            </a:r>
            <a:endParaRPr lang="en-US" sz="1600" dirty="0"/>
          </a:p>
          <a:p>
            <a:pPr indent="0" marL="0">
              <a:buNone/>
            </a:pPr>
            <a:r>
              <a:rPr lang="en-US" sz="1400" dirty="0">
                <a:solidFill>
                  <a:schemeClr val="tx1"/>
                </a:solidFill>
              </a:rPr>
              <a:t>95 / 100, dangerous: do not pay or reply.</a:t>
            </a:r>
            <a:endParaRPr lang="en-US" sz="1600" dirty="0"/>
          </a:p>
        </p:txBody>
      </p:sp>
      <p:sp>
        <p:nvSpPr>
          <p:cNvPr id="9" name="Callout 2"/>
          <p:cNvSpPr/>
          <p:nvPr/>
        </p:nvSpPr>
        <p:spPr>
          <a:xfrm>
            <a:off x="7818120" y="2898648"/>
            <a:ext cx="457200" cy="457200"/>
          </a:xfrm>
          <a:prstGeom prst="ellipse">
            <a:avLst/>
          </a:prstGeom>
          <a:solidFill>
            <a:schemeClr val="accent1"/>
          </a:solidFill>
          <a:ln/>
        </p:spPr>
      </p:sp>
      <p:sp>
        <p:nvSpPr>
          <p:cNvPr id="10" name="Text 7"/>
          <p:cNvSpPr txBox="1"/>
          <p:nvPr/>
        </p:nvSpPr>
        <p:spPr>
          <a:xfrm>
            <a:off x="7818120" y="289864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8"/>
          <p:cNvSpPr txBox="1"/>
          <p:nvPr/>
        </p:nvSpPr>
        <p:spPr>
          <a:xfrm>
            <a:off x="8458200" y="2862072"/>
            <a:ext cx="3182112" cy="960120"/>
          </a:xfrm>
          <a:prstGeom prst="rect">
            <a:avLst/>
          </a:prstGeom>
          <a:noFill/>
          <a:ln/>
        </p:spPr>
        <p:txBody>
          <a:bodyPr wrap="square" lIns="0" tIns="0" rIns="0" bIns="0" rtlCol="0" anchor="t"/>
          <a:lstStyle/>
          <a:p>
            <a:pPr indent="0" marL="0">
              <a:buNone/>
            </a:pPr>
            <a:r>
              <a:rPr lang="en-US" sz="1600" b="1" dirty="0">
                <a:solidFill>
                  <a:schemeClr val="tx1"/>
                </a:solidFill>
              </a:rPr>
              <a:t>Scam type in plain words</a:t>
            </a:r>
            <a:endParaRPr lang="en-US" sz="1600" dirty="0"/>
          </a:p>
          <a:p>
            <a:pPr indent="0" marL="0">
              <a:buNone/>
            </a:pPr>
            <a:r>
              <a:rPr lang="en-US" sz="1400" dirty="0">
                <a:solidFill>
                  <a:schemeClr val="tx1"/>
                </a:solidFill>
              </a:rPr>
              <a:t>Fake bank security team.</a:t>
            </a:r>
            <a:endParaRPr lang="en-US" sz="1600" dirty="0"/>
          </a:p>
        </p:txBody>
      </p:sp>
      <p:sp>
        <p:nvSpPr>
          <p:cNvPr id="12" name="Callout 3"/>
          <p:cNvSpPr/>
          <p:nvPr/>
        </p:nvSpPr>
        <p:spPr>
          <a:xfrm>
            <a:off x="7818120" y="4014216"/>
            <a:ext cx="457200" cy="457200"/>
          </a:xfrm>
          <a:prstGeom prst="ellipse">
            <a:avLst/>
          </a:prstGeom>
          <a:solidFill>
            <a:schemeClr val="accent1"/>
          </a:solidFill>
          <a:ln/>
        </p:spPr>
      </p:sp>
      <p:sp>
        <p:nvSpPr>
          <p:cNvPr id="13" name="Text 10"/>
          <p:cNvSpPr txBox="1"/>
          <p:nvPr/>
        </p:nvSpPr>
        <p:spPr>
          <a:xfrm>
            <a:off x="7818120" y="401421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Text 11"/>
          <p:cNvSpPr txBox="1"/>
          <p:nvPr/>
        </p:nvSpPr>
        <p:spPr>
          <a:xfrm>
            <a:off x="8458200" y="3977640"/>
            <a:ext cx="3182112" cy="960120"/>
          </a:xfrm>
          <a:prstGeom prst="rect">
            <a:avLst/>
          </a:prstGeom>
          <a:noFill/>
          <a:ln/>
        </p:spPr>
        <p:txBody>
          <a:bodyPr wrap="square" lIns="0" tIns="0" rIns="0" bIns="0" rtlCol="0" anchor="t"/>
          <a:lstStyle/>
          <a:p>
            <a:pPr indent="0" marL="0">
              <a:buNone/>
            </a:pPr>
            <a:r>
              <a:rPr lang="en-US" sz="1600" b="1" dirty="0">
                <a:solidFill>
                  <a:schemeClr val="tx1"/>
                </a:solidFill>
              </a:rPr>
              <a:t>What to do now</a:t>
            </a:r>
            <a:endParaRPr lang="en-US" sz="1600" dirty="0"/>
          </a:p>
          <a:p>
            <a:pPr indent="0" marL="0">
              <a:buNone/>
            </a:pPr>
            <a:r>
              <a:rPr lang="en-US" sz="1400" dirty="0">
                <a:solidFill>
                  <a:schemeClr val="tx1"/>
                </a:solidFill>
              </a:rPr>
              <a:t>Steps for this scam, such as calling the number on the back of your card.</a:t>
            </a:r>
            <a:endParaRPr lang="en-US" sz="1600" dirty="0"/>
          </a:p>
        </p:txBody>
      </p:sp>
      <p:sp>
        <p:nvSpPr>
          <p:cNvPr id="15" name="Callout 4"/>
          <p:cNvSpPr/>
          <p:nvPr/>
        </p:nvSpPr>
        <p:spPr>
          <a:xfrm>
            <a:off x="7818120" y="5129784"/>
            <a:ext cx="457200" cy="457200"/>
          </a:xfrm>
          <a:prstGeom prst="ellipse">
            <a:avLst/>
          </a:prstGeom>
          <a:solidFill>
            <a:schemeClr val="accent1"/>
          </a:solidFill>
          <a:ln/>
        </p:spPr>
      </p:sp>
      <p:sp>
        <p:nvSpPr>
          <p:cNvPr id="16" name="Text 13"/>
          <p:cNvSpPr txBox="1"/>
          <p:nvPr/>
        </p:nvSpPr>
        <p:spPr>
          <a:xfrm>
            <a:off x="7818120" y="512978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7" name="Text 14"/>
          <p:cNvSpPr txBox="1"/>
          <p:nvPr/>
        </p:nvSpPr>
        <p:spPr>
          <a:xfrm>
            <a:off x="8458200" y="5093208"/>
            <a:ext cx="3182112" cy="960120"/>
          </a:xfrm>
          <a:prstGeom prst="rect">
            <a:avLst/>
          </a:prstGeom>
          <a:noFill/>
          <a:ln/>
        </p:spPr>
        <p:txBody>
          <a:bodyPr wrap="square" lIns="0" tIns="0" rIns="0" bIns="0" rtlCol="0" anchor="t"/>
          <a:lstStyle/>
          <a:p>
            <a:pPr indent="0" marL="0">
              <a:buNone/>
            </a:pPr>
            <a:r>
              <a:rPr lang="en-US" sz="1600" b="1" dirty="0">
                <a:solidFill>
                  <a:schemeClr val="tx1"/>
                </a:solidFill>
              </a:rPr>
              <a:t>Red flags on the original text</a:t>
            </a:r>
            <a:endParaRPr lang="en-US" sz="1600" dirty="0"/>
          </a:p>
          <a:p>
            <a:pPr indent="0" marL="0">
              <a:buNone/>
            </a:pPr>
            <a:r>
              <a:rPr lang="en-US" sz="1400" dirty="0">
                <a:solidFill>
                  <a:schemeClr val="tx1"/>
                </a:solidFill>
              </a:rPr>
              <a:t>Colour-coded by severity, plus a button that writes the warning for family.</a:t>
            </a:r>
            <a:endParaRPr lang="en-US" sz="16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58368"/>
          </a:xfrm>
          <a:prstGeom prst="rect">
            <a:avLst/>
          </a:prstGeom>
          <a:noFill/>
          <a:ln/>
        </p:spPr>
        <p:txBody>
          <a:bodyPr wrap="square" lIns="0" tIns="0" rIns="0" bIns="0" rtlCol="0" anchor="ctr"/>
          <a:lstStyle/>
          <a:p>
            <a:pPr algn="l" indent="0" marL="0">
              <a:buNone/>
            </a:pPr>
            <a:r>
              <a:rPr lang="en-US" sz="3400" b="1" dirty="0">
                <a:solidFill>
                  <a:schemeClr val="tx1"/>
                </a:solidFill>
              </a:rPr>
              <a:t>Measured on 1,219 unseen messages</a:t>
            </a:r>
            <a:endParaRPr lang="en-US" sz="34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indent="0" marL="0">
              <a:buNone/>
            </a:pPr>
            <a:r>
              <a:rPr lang="en-US" sz="1700" dirty="0">
                <a:solidFill>
                  <a:schemeClr val="accent6"/>
                </a:solidFill>
              </a:rPr>
              <a:t>1,069 real messages (English e-mail, Turkish SMS) and 150 synthetic ones, run once and reported as measured.</a:t>
            </a:r>
            <a:endParaRPr lang="en-US" sz="1700" dirty="0"/>
          </a:p>
        </p:txBody>
      </p:sp>
      <p:graphicFrame>
        <p:nvGraphicFramePr>
          <p:cNvPr id="4" name="Chart: share flagged by label" descr=""/>
          <p:cNvGraphicFramePr/>
          <p:nvPr/>
        </p:nvGraphicFramePr>
        <p:xfrm>
          <a:off x="548640" y="1645920"/>
          <a:ext cx="6858000" cy="4343400"/>
        </p:xfrm>
        <a:graphic xmlns:a="http://schemas.openxmlformats.org/drawingml/2006/main">
          <a:graphicData uri="http://schemas.openxmlformats.org/drawingml/2006/chart">
            <c:chart xmlns:c="http://schemas.openxmlformats.org/drawingml/2006/chart" r:id="rId1"/>
          </a:graphicData>
        </a:graphic>
      </p:graphicFrame>
      <p:sp>
        <p:nvSpPr>
          <p:cNvPr id="5" name="Result 1"/>
          <p:cNvSpPr/>
          <p:nvPr/>
        </p:nvSpPr>
        <p:spPr>
          <a:xfrm>
            <a:off x="7726680" y="1691640"/>
            <a:ext cx="3913632" cy="987552"/>
          </a:xfrm>
          <a:prstGeom prst="roundRect">
            <a:avLst>
              <a:gd name="adj" fmla="val 11111"/>
            </a:avLst>
          </a:prstGeom>
          <a:solidFill>
            <a:schemeClr val="bg2"/>
          </a:solidFill>
          <a:ln/>
        </p:spPr>
      </p:sp>
      <p:sp>
        <p:nvSpPr>
          <p:cNvPr id="6" name="Text 3"/>
          <p:cNvSpPr txBox="1"/>
          <p:nvPr/>
        </p:nvSpPr>
        <p:spPr>
          <a:xfrm>
            <a:off x="7909560" y="1755648"/>
            <a:ext cx="3566160" cy="420624"/>
          </a:xfrm>
          <a:prstGeom prst="rect">
            <a:avLst/>
          </a:prstGeom>
          <a:noFill/>
          <a:ln/>
        </p:spPr>
        <p:txBody>
          <a:bodyPr wrap="square" lIns="0" tIns="0" rIns="0" bIns="0" rtlCol="0" anchor="t"/>
          <a:lstStyle/>
          <a:p>
            <a:pPr indent="0" marL="0">
              <a:buNone/>
            </a:pPr>
            <a:r>
              <a:rPr lang="en-US" sz="2600" b="1" dirty="0">
                <a:solidFill>
                  <a:schemeClr val="accent2"/>
                </a:solidFill>
                <a:latin typeface="+mj-lt" pitchFamily="34" charset="0"/>
                <a:ea typeface="+mj-lt" pitchFamily="34" charset="-122"/>
                <a:cs typeface="+mj-lt" pitchFamily="34" charset="-120"/>
              </a:rPr>
              <a:t>47 of 48</a:t>
            </a:r>
            <a:endParaRPr lang="en-US" sz="2600" dirty="0"/>
          </a:p>
        </p:txBody>
      </p:sp>
      <p:sp>
        <p:nvSpPr>
          <p:cNvPr id="7" name="Text 4"/>
          <p:cNvSpPr txBox="1"/>
          <p:nvPr/>
        </p:nvSpPr>
        <p:spPr>
          <a:xfrm>
            <a:off x="7909560" y="2176272"/>
            <a:ext cx="3611880" cy="457200"/>
          </a:xfrm>
          <a:prstGeom prst="rect">
            <a:avLst/>
          </a:prstGeom>
          <a:noFill/>
          <a:ln/>
        </p:spPr>
        <p:txBody>
          <a:bodyPr wrap="square" lIns="0" tIns="0" rIns="0" bIns="0" rtlCol="0" anchor="t"/>
          <a:lstStyle/>
          <a:p>
            <a:pPr indent="0" marL="0">
              <a:buNone/>
            </a:pPr>
            <a:r>
              <a:rPr lang="en-US" sz="1300" dirty="0">
                <a:solidFill>
                  <a:schemeClr val="tx1"/>
                </a:solidFill>
              </a:rPr>
              <a:t>real scams got a warning</a:t>
            </a:r>
            <a:endParaRPr lang="en-US" sz="1300" dirty="0"/>
          </a:p>
        </p:txBody>
      </p:sp>
      <p:sp>
        <p:nvSpPr>
          <p:cNvPr id="8" name="Result 2"/>
          <p:cNvSpPr/>
          <p:nvPr/>
        </p:nvSpPr>
        <p:spPr>
          <a:xfrm>
            <a:off x="7726680" y="2779776"/>
            <a:ext cx="3913632" cy="987552"/>
          </a:xfrm>
          <a:prstGeom prst="roundRect">
            <a:avLst>
              <a:gd name="adj" fmla="val 11111"/>
            </a:avLst>
          </a:prstGeom>
          <a:solidFill>
            <a:schemeClr val="bg2"/>
          </a:solidFill>
          <a:ln/>
        </p:spPr>
      </p:sp>
      <p:sp>
        <p:nvSpPr>
          <p:cNvPr id="9" name="Text 6"/>
          <p:cNvSpPr txBox="1"/>
          <p:nvPr/>
        </p:nvSpPr>
        <p:spPr>
          <a:xfrm>
            <a:off x="7909560" y="2843784"/>
            <a:ext cx="3566160" cy="420624"/>
          </a:xfrm>
          <a:prstGeom prst="rect">
            <a:avLst/>
          </a:prstGeom>
          <a:noFill/>
          <a:ln/>
        </p:spPr>
        <p:txBody>
          <a:bodyPr wrap="square" lIns="0" tIns="0" rIns="0" bIns="0" rtlCol="0" anchor="t"/>
          <a:lstStyle/>
          <a:p>
            <a:pPr indent="0" marL="0">
              <a:buNone/>
            </a:pPr>
            <a:r>
              <a:rPr lang="en-US" sz="2600" b="1" dirty="0">
                <a:solidFill>
                  <a:schemeClr val="tx1"/>
                </a:solidFill>
                <a:latin typeface="+mj-lt" pitchFamily="34" charset="0"/>
                <a:ea typeface="+mj-lt" pitchFamily="34" charset="-122"/>
                <a:cs typeface="+mj-lt" pitchFamily="34" charset="-120"/>
              </a:rPr>
              <a:t>0.89</a:t>
            </a:r>
            <a:endParaRPr lang="en-US" sz="2600" dirty="0"/>
          </a:p>
        </p:txBody>
      </p:sp>
      <p:sp>
        <p:nvSpPr>
          <p:cNvPr id="10" name="Text 7"/>
          <p:cNvSpPr txBox="1"/>
          <p:nvPr/>
        </p:nvSpPr>
        <p:spPr>
          <a:xfrm>
            <a:off x="7909560" y="3264408"/>
            <a:ext cx="3611880" cy="457200"/>
          </a:xfrm>
          <a:prstGeom prst="rect">
            <a:avLst/>
          </a:prstGeom>
          <a:noFill/>
          <a:ln/>
        </p:spPr>
        <p:txBody>
          <a:bodyPr wrap="square" lIns="0" tIns="0" rIns="0" bIns="0" rtlCol="0" anchor="t"/>
          <a:lstStyle/>
          <a:p>
            <a:pPr indent="0" marL="0">
              <a:buNone/>
            </a:pPr>
            <a:r>
              <a:rPr lang="en-US" sz="1300" dirty="0">
                <a:solidFill>
                  <a:schemeClr val="tx1"/>
                </a:solidFill>
              </a:rPr>
              <a:t>F1 on real English e-mail (precision 0.84, recall 0.96)</a:t>
            </a:r>
            <a:endParaRPr lang="en-US" sz="1300" dirty="0"/>
          </a:p>
        </p:txBody>
      </p:sp>
      <p:sp>
        <p:nvSpPr>
          <p:cNvPr id="11" name="Result 3"/>
          <p:cNvSpPr/>
          <p:nvPr/>
        </p:nvSpPr>
        <p:spPr>
          <a:xfrm>
            <a:off x="7726680" y="3867912"/>
            <a:ext cx="3913632" cy="987552"/>
          </a:xfrm>
          <a:prstGeom prst="roundRect">
            <a:avLst>
              <a:gd name="adj" fmla="val 11111"/>
            </a:avLst>
          </a:prstGeom>
          <a:solidFill>
            <a:schemeClr val="bg2"/>
          </a:solidFill>
          <a:ln/>
        </p:spPr>
      </p:sp>
      <p:sp>
        <p:nvSpPr>
          <p:cNvPr id="12" name="Text 9"/>
          <p:cNvSpPr txBox="1"/>
          <p:nvPr/>
        </p:nvSpPr>
        <p:spPr>
          <a:xfrm>
            <a:off x="7909560" y="3931920"/>
            <a:ext cx="3566160" cy="420624"/>
          </a:xfrm>
          <a:prstGeom prst="rect">
            <a:avLst/>
          </a:prstGeom>
          <a:noFill/>
          <a:ln/>
        </p:spPr>
        <p:txBody>
          <a:bodyPr wrap="square" lIns="0" tIns="0" rIns="0" bIns="0" rtlCol="0" anchor="t"/>
          <a:lstStyle/>
          <a:p>
            <a:pPr indent="0" marL="0">
              <a:buNone/>
            </a:pPr>
            <a:r>
              <a:rPr lang="en-US" sz="2600" b="1" dirty="0">
                <a:solidFill>
                  <a:schemeClr val="tx1"/>
                </a:solidFill>
                <a:latin typeface="+mj-lt" pitchFamily="34" charset="0"/>
                <a:ea typeface="+mj-lt" pitchFamily="34" charset="-122"/>
                <a:cs typeface="+mj-lt" pitchFamily="34" charset="-120"/>
              </a:rPr>
              <a:t>11.5%</a:t>
            </a:r>
            <a:endParaRPr lang="en-US" sz="2600" dirty="0"/>
          </a:p>
        </p:txBody>
      </p:sp>
      <p:sp>
        <p:nvSpPr>
          <p:cNvPr id="13" name="Text 10"/>
          <p:cNvSpPr txBox="1"/>
          <p:nvPr/>
        </p:nvSpPr>
        <p:spPr>
          <a:xfrm>
            <a:off x="7909560" y="4352544"/>
            <a:ext cx="3611880" cy="457200"/>
          </a:xfrm>
          <a:prstGeom prst="rect">
            <a:avLst/>
          </a:prstGeom>
          <a:noFill/>
          <a:ln/>
        </p:spPr>
        <p:txBody>
          <a:bodyPr wrap="square" lIns="0" tIns="0" rIns="0" bIns="0" rtlCol="0" anchor="t"/>
          <a:lstStyle/>
          <a:p>
            <a:pPr indent="0" marL="0">
              <a:buNone/>
            </a:pPr>
            <a:r>
              <a:rPr lang="en-US" sz="1300" dirty="0">
                <a:solidFill>
                  <a:schemeClr val="tx1"/>
                </a:solidFill>
              </a:rPr>
              <a:t>false alarms on safe real messages, mostly commercial spam</a:t>
            </a:r>
            <a:endParaRPr lang="en-US" sz="1300" dirty="0"/>
          </a:p>
        </p:txBody>
      </p:sp>
      <p:sp>
        <p:nvSpPr>
          <p:cNvPr id="14" name="Result 4"/>
          <p:cNvSpPr/>
          <p:nvPr/>
        </p:nvSpPr>
        <p:spPr>
          <a:xfrm>
            <a:off x="7726680" y="4956048"/>
            <a:ext cx="3913632" cy="987552"/>
          </a:xfrm>
          <a:prstGeom prst="roundRect">
            <a:avLst>
              <a:gd name="adj" fmla="val 11111"/>
            </a:avLst>
          </a:prstGeom>
          <a:solidFill>
            <a:schemeClr val="bg2"/>
          </a:solidFill>
          <a:ln/>
        </p:spPr>
      </p:sp>
      <p:sp>
        <p:nvSpPr>
          <p:cNvPr id="15" name="Text 12"/>
          <p:cNvSpPr txBox="1"/>
          <p:nvPr/>
        </p:nvSpPr>
        <p:spPr>
          <a:xfrm>
            <a:off x="7909560" y="5020056"/>
            <a:ext cx="3566160" cy="420624"/>
          </a:xfrm>
          <a:prstGeom prst="rect">
            <a:avLst/>
          </a:prstGeom>
          <a:noFill/>
          <a:ln/>
        </p:spPr>
        <p:txBody>
          <a:bodyPr wrap="square" lIns="0" tIns="0" rIns="0" bIns="0" rtlCol="0" anchor="t"/>
          <a:lstStyle/>
          <a:p>
            <a:pPr indent="0" marL="0">
              <a:buNone/>
            </a:pPr>
            <a:r>
              <a:rPr lang="en-US" sz="2600" b="1" dirty="0">
                <a:solidFill>
                  <a:schemeClr val="tx1"/>
                </a:solidFill>
                <a:latin typeface="+mj-lt" pitchFamily="34" charset="0"/>
                <a:ea typeface="+mj-lt" pitchFamily="34" charset="-122"/>
                <a:cs typeface="+mj-lt" pitchFamily="34" charset="-120"/>
              </a:rPr>
              <a:t>50 ms · 7 s</a:t>
            </a:r>
            <a:endParaRPr lang="en-US" sz="2600" dirty="0"/>
          </a:p>
        </p:txBody>
      </p:sp>
      <p:sp>
        <p:nvSpPr>
          <p:cNvPr id="16" name="Text 13"/>
          <p:cNvSpPr txBox="1"/>
          <p:nvPr/>
        </p:nvSpPr>
        <p:spPr>
          <a:xfrm>
            <a:off x="7909560" y="5440680"/>
            <a:ext cx="3611880" cy="457200"/>
          </a:xfrm>
          <a:prstGeom prst="rect">
            <a:avLst/>
          </a:prstGeom>
          <a:noFill/>
          <a:ln/>
        </p:spPr>
        <p:txBody>
          <a:bodyPr wrap="square" lIns="0" tIns="0" rIns="0" bIns="0" rtlCol="0" anchor="t"/>
          <a:lstStyle/>
          <a:p>
            <a:pPr indent="0" marL="0">
              <a:buNone/>
            </a:pPr>
            <a:r>
              <a:rPr lang="en-US" sz="1300" dirty="0">
                <a:solidFill>
                  <a:schemeClr val="tx1"/>
                </a:solidFill>
              </a:rPr>
              <a:t>instant and full answer; $0.25–0.65 of LLM cost per 1,000 checks</a:t>
            </a:r>
            <a:endParaRPr lang="en-US" sz="1300" dirty="0"/>
          </a:p>
        </p:txBody>
      </p:sp>
      <p:sp>
        <p:nvSpPr>
          <p:cNvPr id="17" name="Text 14"/>
          <p:cNvSpPr txBox="1"/>
          <p:nvPr/>
        </p:nvSpPr>
        <p:spPr>
          <a:xfrm>
            <a:off x="548640" y="6071616"/>
            <a:ext cx="11064240" cy="274320"/>
          </a:xfrm>
          <a:prstGeom prst="rect">
            <a:avLst/>
          </a:prstGeom>
          <a:noFill/>
          <a:ln/>
        </p:spPr>
        <p:txBody>
          <a:bodyPr wrap="square" lIns="0" tIns="0" rIns="0" bIns="0" rtlCol="0" anchor="t"/>
          <a:lstStyle/>
          <a:p>
            <a:pPr indent="0" marL="0">
              <a:buNone/>
            </a:pPr>
            <a:r>
              <a:rPr lang="en-US" sz="1100" dirty="0">
                <a:solidFill>
                  <a:schemeClr val="accent6"/>
                </a:solidFill>
              </a:rPr>
              <a:t>Labels: independent AI labellers; a blind re-label of 10% agreed on 97% (κ 0.93). No test message overlaps the classifier's training data. Full report: eval/README.md.</a:t>
            </a:r>
            <a:endParaRPr lang="en-US" sz="11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58368"/>
          </a:xfrm>
          <a:prstGeom prst="rect">
            <a:avLst/>
          </a:prstGeom>
          <a:noFill/>
          <a:ln/>
        </p:spPr>
        <p:txBody>
          <a:bodyPr wrap="square" lIns="0" tIns="0" rIns="0" bIns="0" rtlCol="0" anchor="ctr"/>
          <a:lstStyle/>
          <a:p>
            <a:pPr algn="l" indent="0" marL="0">
              <a:buNone/>
            </a:pPr>
            <a:r>
              <a:rPr lang="en-US" sz="3400" b="1" dirty="0">
                <a:solidFill>
                  <a:schemeClr val="tx1"/>
                </a:solidFill>
              </a:rPr>
              <a:t>Each layer catches what the others miss</a:t>
            </a:r>
            <a:endParaRPr lang="en-US" sz="34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indent="0" marL="0">
              <a:buNone/>
            </a:pPr>
            <a:r>
              <a:rPr lang="en-US" sz="1700" dirty="0">
                <a:solidFill>
                  <a:schemeClr val="accent6"/>
                </a:solidFill>
              </a:rPr>
              <a:t>The rules and the AI analyst, run on its own, are independent detectors. Together they cover more than either.</a:t>
            </a:r>
            <a:endParaRPr lang="en-US" sz="1700" dirty="0"/>
          </a:p>
        </p:txBody>
      </p:sp>
      <p:graphicFrame>
        <p:nvGraphicFramePr>
          <p:cNvPr id="4" name="Chart: which layer flagged" descr=""/>
          <p:cNvGraphicFramePr/>
          <p:nvPr/>
        </p:nvGraphicFramePr>
        <p:xfrm>
          <a:off x="548640" y="1645920"/>
          <a:ext cx="6400800" cy="3886200"/>
        </p:xfrm>
        <a:graphic xmlns:a="http://schemas.openxmlformats.org/drawingml/2006/main">
          <a:graphicData uri="http://schemas.openxmlformats.org/drawingml/2006/chart">
            <c:chart xmlns:c="http://schemas.openxmlformats.org/drawingml/2006/chart" r:id="rId1"/>
          </a:graphicData>
        </a:graphic>
      </p:graphicFrame>
      <p:sp>
        <p:nvSpPr>
          <p:cNvPr id="5" name="The rules cover the AI"/>
          <p:cNvSpPr/>
          <p:nvPr/>
        </p:nvSpPr>
        <p:spPr>
          <a:xfrm>
            <a:off x="7269480" y="1691640"/>
            <a:ext cx="4370832" cy="1188720"/>
          </a:xfrm>
          <a:prstGeom prst="roundRect">
            <a:avLst>
              <a:gd name="adj" fmla="val 9231"/>
            </a:avLst>
          </a:prstGeom>
          <a:solidFill>
            <a:schemeClr val="bg2"/>
          </a:solidFill>
          <a:ln/>
        </p:spPr>
      </p:sp>
      <p:sp>
        <p:nvSpPr>
          <p:cNvPr id="6" name="Text 3"/>
          <p:cNvSpPr txBox="1"/>
          <p:nvPr/>
        </p:nvSpPr>
        <p:spPr>
          <a:xfrm>
            <a:off x="7452360" y="1801368"/>
            <a:ext cx="4023360" cy="1005840"/>
          </a:xfrm>
          <a:prstGeom prst="rect">
            <a:avLst/>
          </a:prstGeom>
          <a:noFill/>
          <a:ln/>
        </p:spPr>
        <p:txBody>
          <a:bodyPr wrap="square" lIns="0" tIns="0" rIns="0" bIns="0" rtlCol="0" anchor="t"/>
          <a:lstStyle/>
          <a:p>
            <a:pPr indent="0" marL="0">
              <a:buNone/>
            </a:pPr>
            <a:r>
              <a:rPr lang="en-US" sz="1500" b="1" dirty="0">
                <a:solidFill>
                  <a:schemeClr val="accent1"/>
                </a:solidFill>
              </a:rPr>
              <a:t>The rules cover the AI</a:t>
            </a:r>
            <a:endParaRPr lang="en-US" sz="1500" dirty="0"/>
          </a:p>
          <a:p>
            <a:pPr indent="0" marL="0">
              <a:buNone/>
            </a:pPr>
            <a:r>
              <a:rPr lang="en-US" sz="1300" dirty="0">
                <a:solidFill>
                  <a:schemeClr val="tx1"/>
                </a:solidFill>
              </a:rPr>
              <a:t>A polite courier SMS. The AI analyst alone: 20 / 100, fooled by the tone. Link analysis: the courier's name sits in the subdomain of an unrelated domain. Result: suspicious.</a:t>
            </a:r>
            <a:endParaRPr lang="en-US" sz="1500" dirty="0"/>
          </a:p>
        </p:txBody>
      </p:sp>
      <p:sp>
        <p:nvSpPr>
          <p:cNvPr id="7" name="The AI covers the rules"/>
          <p:cNvSpPr/>
          <p:nvPr/>
        </p:nvSpPr>
        <p:spPr>
          <a:xfrm>
            <a:off x="7269480" y="2999232"/>
            <a:ext cx="4370832" cy="1188720"/>
          </a:xfrm>
          <a:prstGeom prst="roundRect">
            <a:avLst>
              <a:gd name="adj" fmla="val 9231"/>
            </a:avLst>
          </a:prstGeom>
          <a:solidFill>
            <a:schemeClr val="bg2"/>
          </a:solidFill>
          <a:ln/>
        </p:spPr>
      </p:sp>
      <p:sp>
        <p:nvSpPr>
          <p:cNvPr id="8" name="Text 5"/>
          <p:cNvSpPr txBox="1"/>
          <p:nvPr/>
        </p:nvSpPr>
        <p:spPr>
          <a:xfrm>
            <a:off x="7452360" y="3108960"/>
            <a:ext cx="4023360" cy="1005840"/>
          </a:xfrm>
          <a:prstGeom prst="rect">
            <a:avLst/>
          </a:prstGeom>
          <a:noFill/>
          <a:ln/>
        </p:spPr>
        <p:txBody>
          <a:bodyPr wrap="square" lIns="0" tIns="0" rIns="0" bIns="0" rtlCol="0" anchor="t"/>
          <a:lstStyle/>
          <a:p>
            <a:pPr indent="0" marL="0">
              <a:buNone/>
            </a:pPr>
            <a:r>
              <a:rPr lang="en-US" sz="1500" b="1" dirty="0">
                <a:solidFill>
                  <a:schemeClr val="accent1"/>
                </a:solidFill>
              </a:rPr>
              <a:t>The AI covers the rules</a:t>
            </a:r>
            <a:endParaRPr lang="en-US" sz="1500" dirty="0"/>
          </a:p>
          <a:p>
            <a:pPr indent="0" marL="0">
              <a:buNone/>
            </a:pPr>
            <a:r>
              <a:rPr lang="en-US" sz="1300" dirty="0">
                <a:solidFill>
                  <a:schemeClr val="tx1"/>
                </a:solidFill>
              </a:rPr>
              <a:t>"Reply with the 6-digit code to cancel the payment." No rule fired. The AI analyst: 70 / 100, bank impersonation. Result: suspicious.</a:t>
            </a:r>
            <a:endParaRPr lang="en-US" sz="1500" dirty="0"/>
          </a:p>
        </p:txBody>
      </p:sp>
      <p:sp>
        <p:nvSpPr>
          <p:cNvPr id="9" name="The classifier tips the balance"/>
          <p:cNvSpPr/>
          <p:nvPr/>
        </p:nvSpPr>
        <p:spPr>
          <a:xfrm>
            <a:off x="7269480" y="4306824"/>
            <a:ext cx="4370832" cy="1188720"/>
          </a:xfrm>
          <a:prstGeom prst="roundRect">
            <a:avLst>
              <a:gd name="adj" fmla="val 9231"/>
            </a:avLst>
          </a:prstGeom>
          <a:solidFill>
            <a:schemeClr val="bg2"/>
          </a:solidFill>
          <a:ln/>
        </p:spPr>
      </p:sp>
      <p:sp>
        <p:nvSpPr>
          <p:cNvPr id="10" name="Text 7"/>
          <p:cNvSpPr txBox="1"/>
          <p:nvPr/>
        </p:nvSpPr>
        <p:spPr>
          <a:xfrm>
            <a:off x="7452360" y="4416552"/>
            <a:ext cx="4023360" cy="1005840"/>
          </a:xfrm>
          <a:prstGeom prst="rect">
            <a:avLst/>
          </a:prstGeom>
          <a:noFill/>
          <a:ln/>
        </p:spPr>
        <p:txBody>
          <a:bodyPr wrap="square" lIns="0" tIns="0" rIns="0" bIns="0" rtlCol="0" anchor="t"/>
          <a:lstStyle/>
          <a:p>
            <a:pPr indent="0" marL="0">
              <a:buNone/>
            </a:pPr>
            <a:r>
              <a:rPr lang="en-US" sz="1500" b="1" dirty="0">
                <a:solidFill>
                  <a:schemeClr val="accent1"/>
                </a:solidFill>
              </a:rPr>
              <a:t>The classifier tips the balance</a:t>
            </a:r>
            <a:endParaRPr lang="en-US" sz="1500" dirty="0"/>
          </a:p>
          <a:p>
            <a:pPr indent="0" marL="0">
              <a:buNone/>
            </a:pPr>
            <a:r>
              <a:rPr lang="en-US" sz="1300" dirty="0">
                <a:solidFill>
                  <a:schemeClr val="tx1"/>
                </a:solidFill>
              </a:rPr>
              <a:t>A charity appeal whose donation link is on another domain. Rules 25, AI alone 30, both under 35. The classifier: 98. The instant answer: suspicious.</a:t>
            </a:r>
            <a:endParaRPr lang="en-US" sz="1500" dirty="0"/>
          </a:p>
        </p:txBody>
      </p:sp>
      <p:sp>
        <p:nvSpPr>
          <p:cNvPr id="11" name="Text 8"/>
          <p:cNvSpPr txBox="1"/>
          <p:nvPr/>
        </p:nvSpPr>
        <p:spPr>
          <a:xfrm>
            <a:off x="548640" y="5715000"/>
            <a:ext cx="11064240" cy="457200"/>
          </a:xfrm>
          <a:prstGeom prst="rect">
            <a:avLst/>
          </a:prstGeom>
          <a:noFill/>
          <a:ln/>
        </p:spPr>
        <p:txBody>
          <a:bodyPr wrap="square" lIns="0" tIns="0" rIns="0" bIns="0" rtlCol="0" anchor="t"/>
          <a:lstStyle/>
          <a:p>
            <a:pPr indent="0" marL="0">
              <a:buNone/>
            </a:pPr>
            <a:r>
              <a:rPr lang="en-US" sz="1500" b="1" dirty="0">
                <a:solidFill>
                  <a:schemeClr val="tx1"/>
                </a:solidFill>
              </a:rPr>
              <a:t>Seeing the rules' findings makes the analyst better: </a:t>
            </a:r>
            <a:pPr indent="0" marL="0">
              <a:buNone/>
            </a:pPr>
            <a:r>
              <a:rPr lang="en-US" sz="1500" dirty="0">
                <a:solidFill>
                  <a:schemeClr val="tx1"/>
                </a:solidFill>
              </a:rPr>
              <a:t>recall 0.65 → 0.80 on the synthetic set, false alarms 159 → 119 on real messages.</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58368"/>
          </a:xfrm>
          <a:prstGeom prst="rect">
            <a:avLst/>
          </a:prstGeom>
          <a:noFill/>
          <a:ln/>
        </p:spPr>
        <p:txBody>
          <a:bodyPr wrap="square" lIns="0" tIns="0" rIns="0" bIns="0" rtlCol="0" anchor="ctr"/>
          <a:lstStyle/>
          <a:p>
            <a:pPr algn="l" indent="0" marL="0">
              <a:buNone/>
            </a:pPr>
            <a:r>
              <a:rPr lang="en-US" sz="3400" b="1" dirty="0">
                <a:solidFill>
                  <a:schemeClr val="tx1"/>
                </a:solidFill>
              </a:rPr>
              <a:t>AI agents pay; a human stays in the loop</a:t>
            </a:r>
            <a:endParaRPr lang="en-US" sz="34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indent="0" marL="0">
              <a:buNone/>
            </a:pPr>
            <a:r>
              <a:rPr lang="en-US" sz="1700" dirty="0">
                <a:solidFill>
                  <a:schemeClr val="accent6"/>
                </a:solidFill>
              </a:rPr>
              <a:t>For 'agentic AI with human oversight': the agent asks TrustGate before it pays.</a:t>
            </a:r>
            <a:endParaRPr lang="en-US" sz="1700" dirty="0"/>
          </a:p>
        </p:txBody>
      </p:sp>
      <p:sp>
        <p:nvSpPr>
          <p:cNvPr id="4" name="Screenshot: AI agent checkout frame"/>
          <p:cNvSpPr/>
          <p:nvPr/>
        </p:nvSpPr>
        <p:spPr>
          <a:xfrm>
            <a:off x="512064" y="1655064"/>
            <a:ext cx="6062472" cy="4036673"/>
          </a:xfrm>
          <a:prstGeom prst="rect">
            <a:avLst/>
          </a:prstGeom>
          <a:solidFill>
            <a:schemeClr val="bg1"/>
          </a:solidFill>
          <a:ln w="9525">
            <a:solidFill>
              <a:srgbClr val="E2E5EF"/>
            </a:solidFill>
            <a:prstDash val="solid"/>
          </a:ln>
          <a:effectLst>
            <a:outerShdw sx="100000" sy="100000" kx="0" ky="0" algn="bl" rotWithShape="0" blurRad="127000" dist="25400" dir="5400000">
              <a:srgbClr val="141A33">
                <a:alpha val="12000"/>
              </a:srgbClr>
            </a:outerShdw>
          </a:effectLst>
        </p:spPr>
      </p:sp>
      <p:pic>
        <p:nvPicPr>
          <p:cNvPr id="5" name="Screenshot: AI agent checkout" descr="Screenshot: AI agent checkout">    </p:cNvPr>
          <p:cNvPicPr>
            <a:picLocks noChangeAspect="1"/>
          </p:cNvPicPr>
          <p:nvPr/>
        </p:nvPicPr>
        <p:blipFill>
          <a:blip r:embed="rId1"/>
          <a:stretch>
            <a:fillRect/>
          </a:stretch>
        </p:blipFill>
        <p:spPr>
          <a:xfrm>
            <a:off x="548640" y="1691640"/>
            <a:ext cx="5989320" cy="3963521"/>
          </a:xfrm>
          <a:prstGeom prst="rect">
            <a:avLst/>
          </a:prstGeom>
        </p:spPr>
      </p:pic>
      <p:sp>
        <p:nvSpPr>
          <p:cNvPr id="6" name="Agent step"/>
          <p:cNvSpPr/>
          <p:nvPr/>
        </p:nvSpPr>
        <p:spPr>
          <a:xfrm>
            <a:off x="6949440" y="1691640"/>
            <a:ext cx="4690872" cy="603504"/>
          </a:xfrm>
          <a:prstGeom prst="roundRect">
            <a:avLst>
              <a:gd name="adj" fmla="val 18182"/>
            </a:avLst>
          </a:prstGeom>
          <a:solidFill>
            <a:schemeClr val="bg2"/>
          </a:solidFill>
          <a:ln/>
        </p:spPr>
      </p:sp>
      <p:sp>
        <p:nvSpPr>
          <p:cNvPr id="7" name="Agent circle"/>
          <p:cNvSpPr/>
          <p:nvPr/>
        </p:nvSpPr>
        <p:spPr>
          <a:xfrm>
            <a:off x="7068312" y="1737360"/>
            <a:ext cx="512064" cy="512064"/>
          </a:xfrm>
          <a:prstGeom prst="ellipse">
            <a:avLst/>
          </a:prstGeom>
          <a:solidFill>
            <a:schemeClr val="accent6"/>
          </a:solidFill>
          <a:ln/>
        </p:spPr>
      </p:sp>
      <p:pic>
        <p:nvPicPr>
          <p:cNvPr id="8" name="Agent icon" descr="preencoded.png">    </p:cNvPr>
          <p:cNvPicPr>
            <a:picLocks noChangeAspect="1"/>
          </p:cNvPicPr>
          <p:nvPr/>
        </p:nvPicPr>
        <p:blipFill>
          <a:blip r:embed="rId2"/>
          <a:stretch>
            <a:fillRect/>
          </a:stretch>
        </p:blipFill>
        <p:spPr>
          <a:xfrm>
            <a:off x="7191207" y="1860255"/>
            <a:ext cx="266273" cy="266273"/>
          </a:xfrm>
          <a:prstGeom prst="rect">
            <a:avLst/>
          </a:prstGeom>
        </p:spPr>
      </p:pic>
      <p:sp>
        <p:nvSpPr>
          <p:cNvPr id="9" name="Text 5"/>
          <p:cNvSpPr txBox="1"/>
          <p:nvPr/>
        </p:nvSpPr>
        <p:spPr>
          <a:xfrm>
            <a:off x="7726680" y="1691640"/>
            <a:ext cx="3794760" cy="603504"/>
          </a:xfrm>
          <a:prstGeom prst="rect">
            <a:avLst/>
          </a:prstGeom>
          <a:noFill/>
          <a:ln/>
        </p:spPr>
        <p:txBody>
          <a:bodyPr wrap="square" lIns="0" tIns="0" rIns="0" bIns="0" rtlCol="0" anchor="ctr"/>
          <a:lstStyle/>
          <a:p>
            <a:pPr indent="0" marL="0">
              <a:buNone/>
            </a:pPr>
            <a:r>
              <a:rPr lang="en-US" sz="1500" b="1" dirty="0">
                <a:solidFill>
                  <a:schemeClr val="tx1"/>
                </a:solidFill>
              </a:rPr>
              <a:t>An AI shopping agent is about to pay</a:t>
            </a:r>
            <a:endParaRPr lang="en-US" sz="1500" dirty="0"/>
          </a:p>
        </p:txBody>
      </p:sp>
      <p:sp>
        <p:nvSpPr>
          <p:cNvPr id="10" name="Arrow agent"/>
          <p:cNvSpPr/>
          <p:nvPr/>
        </p:nvSpPr>
        <p:spPr>
          <a:xfrm>
            <a:off x="7324344" y="2313432"/>
            <a:ext cx="0" cy="219456"/>
          </a:xfrm>
          <a:prstGeom prst="line">
            <a:avLst/>
          </a:prstGeom>
          <a:noFill/>
          <a:ln w="15875">
            <a:solidFill>
              <a:schemeClr val="accent6"/>
            </a:solidFill>
            <a:prstDash val="solid"/>
            <a:tailEnd type="triangle"/>
          </a:ln>
        </p:spPr>
      </p:sp>
      <p:sp>
        <p:nvSpPr>
          <p:cNvPr id="11" name="TrustGate step"/>
          <p:cNvSpPr/>
          <p:nvPr/>
        </p:nvSpPr>
        <p:spPr>
          <a:xfrm>
            <a:off x="6949440" y="2560320"/>
            <a:ext cx="4690872" cy="603504"/>
          </a:xfrm>
          <a:prstGeom prst="roundRect">
            <a:avLst>
              <a:gd name="adj" fmla="val 18182"/>
            </a:avLst>
          </a:prstGeom>
          <a:solidFill>
            <a:schemeClr val="accent1">
              <a:alpha val="12000"/>
            </a:schemeClr>
          </a:solidFill>
          <a:ln/>
        </p:spPr>
      </p:sp>
      <p:sp>
        <p:nvSpPr>
          <p:cNvPr id="12" name="TrustGate circle"/>
          <p:cNvSpPr/>
          <p:nvPr/>
        </p:nvSpPr>
        <p:spPr>
          <a:xfrm>
            <a:off x="7068312" y="2606040"/>
            <a:ext cx="512064" cy="512064"/>
          </a:xfrm>
          <a:prstGeom prst="ellipse">
            <a:avLst/>
          </a:prstGeom>
          <a:solidFill>
            <a:schemeClr val="accent1"/>
          </a:solidFill>
          <a:ln/>
        </p:spPr>
      </p:sp>
      <p:pic>
        <p:nvPicPr>
          <p:cNvPr id="13" name="TrustGate icon" descr="preencoded.png">    </p:cNvPr>
          <p:cNvPicPr>
            <a:picLocks noChangeAspect="1"/>
          </p:cNvPicPr>
          <p:nvPr/>
        </p:nvPicPr>
        <p:blipFill>
          <a:blip r:embed="rId3"/>
          <a:stretch>
            <a:fillRect/>
          </a:stretch>
        </p:blipFill>
        <p:spPr>
          <a:xfrm>
            <a:off x="7191207" y="2728935"/>
            <a:ext cx="266273" cy="266273"/>
          </a:xfrm>
          <a:prstGeom prst="rect">
            <a:avLst/>
          </a:prstGeom>
        </p:spPr>
      </p:pic>
      <p:sp>
        <p:nvSpPr>
          <p:cNvPr id="14" name="Text 9"/>
          <p:cNvSpPr txBox="1"/>
          <p:nvPr/>
        </p:nvSpPr>
        <p:spPr>
          <a:xfrm>
            <a:off x="7726680" y="2560320"/>
            <a:ext cx="3840480" cy="603504"/>
          </a:xfrm>
          <a:prstGeom prst="rect">
            <a:avLst/>
          </a:prstGeom>
          <a:noFill/>
          <a:ln/>
        </p:spPr>
        <p:txBody>
          <a:bodyPr wrap="square" lIns="0" tIns="0" rIns="0" bIns="0" rtlCol="0" anchor="ctr"/>
          <a:lstStyle/>
          <a:p>
            <a:pPr indent="0" marL="0">
              <a:buNone/>
            </a:pPr>
            <a:r>
              <a:rPr lang="en-US" sz="1500" b="1" dirty="0">
                <a:solidFill>
                  <a:schemeClr val="tx1"/>
                </a:solidFill>
              </a:rPr>
              <a:t>TrustGate checks it: initiator = ai_agent</a:t>
            </a:r>
            <a:endParaRPr lang="en-US" sz="1500" dirty="0"/>
          </a:p>
        </p:txBody>
      </p:sp>
      <p:sp>
        <p:nvSpPr>
          <p:cNvPr id="15" name="Arrow decide"/>
          <p:cNvSpPr/>
          <p:nvPr/>
        </p:nvSpPr>
        <p:spPr>
          <a:xfrm>
            <a:off x="7324344" y="3182112"/>
            <a:ext cx="0" cy="219456"/>
          </a:xfrm>
          <a:prstGeom prst="line">
            <a:avLst/>
          </a:prstGeom>
          <a:noFill/>
          <a:ln w="15875">
            <a:solidFill>
              <a:schemeClr val="accent6"/>
            </a:solidFill>
            <a:prstDash val="solid"/>
            <a:tailEnd type="triangle"/>
          </a:ln>
        </p:spPr>
      </p:sp>
      <p:sp>
        <p:nvSpPr>
          <p:cNvPr id="16" name="Outcome proceed"/>
          <p:cNvSpPr/>
          <p:nvPr/>
        </p:nvSpPr>
        <p:spPr>
          <a:xfrm>
            <a:off x="6949440" y="3447288"/>
            <a:ext cx="1097280" cy="347472"/>
          </a:xfrm>
          <a:prstGeom prst="roundRect">
            <a:avLst>
              <a:gd name="adj" fmla="val 50000"/>
            </a:avLst>
          </a:prstGeom>
          <a:solidFill>
            <a:schemeClr val="accent4">
              <a:alpha val="15000"/>
            </a:schemeClr>
          </a:solidFill>
          <a:ln w="12700">
            <a:solidFill>
              <a:schemeClr val="accent4"/>
            </a:solidFill>
            <a:prstDash val="solid"/>
          </a:ln>
        </p:spPr>
      </p:sp>
      <p:sp>
        <p:nvSpPr>
          <p:cNvPr id="17" name="Text 12"/>
          <p:cNvSpPr txBox="1"/>
          <p:nvPr/>
        </p:nvSpPr>
        <p:spPr>
          <a:xfrm>
            <a:off x="6949440" y="3447288"/>
            <a:ext cx="1097280" cy="347472"/>
          </a:xfrm>
          <a:prstGeom prst="rect">
            <a:avLst/>
          </a:prstGeom>
          <a:noFill/>
          <a:ln/>
        </p:spPr>
        <p:txBody>
          <a:bodyPr wrap="square" lIns="0" tIns="0" rIns="0" bIns="0" rtlCol="0" anchor="ctr"/>
          <a:lstStyle/>
          <a:p>
            <a:pPr algn="ctr" indent="0" marL="0">
              <a:buNone/>
            </a:pPr>
            <a:r>
              <a:rPr lang="en-US" sz="1300" b="1" dirty="0">
                <a:solidFill>
                  <a:schemeClr val="accent4"/>
                </a:solidFill>
              </a:rPr>
              <a:t>proceed</a:t>
            </a:r>
            <a:endParaRPr lang="en-US" sz="1300" dirty="0"/>
          </a:p>
        </p:txBody>
      </p:sp>
      <p:sp>
        <p:nvSpPr>
          <p:cNvPr id="18" name="Text 13"/>
          <p:cNvSpPr txBox="1"/>
          <p:nvPr/>
        </p:nvSpPr>
        <p:spPr>
          <a:xfrm>
            <a:off x="8183880" y="3447288"/>
            <a:ext cx="3429000" cy="347472"/>
          </a:xfrm>
          <a:prstGeom prst="rect">
            <a:avLst/>
          </a:prstGeom>
          <a:noFill/>
          <a:ln/>
        </p:spPr>
        <p:txBody>
          <a:bodyPr wrap="square" lIns="0" tIns="0" rIns="0" bIns="0" rtlCol="0" anchor="ctr"/>
          <a:lstStyle/>
          <a:p>
            <a:pPr indent="0" marL="0">
              <a:buNone/>
            </a:pPr>
            <a:r>
              <a:rPr lang="en-US" sz="1400" dirty="0">
                <a:solidFill>
                  <a:schemeClr val="tx1"/>
                </a:solidFill>
              </a:rPr>
              <a:t>the agent continues</a:t>
            </a:r>
            <a:endParaRPr lang="en-US" sz="1400" dirty="0"/>
          </a:p>
        </p:txBody>
      </p:sp>
      <p:sp>
        <p:nvSpPr>
          <p:cNvPr id="19" name="Outcome hold"/>
          <p:cNvSpPr/>
          <p:nvPr/>
        </p:nvSpPr>
        <p:spPr>
          <a:xfrm>
            <a:off x="6949440" y="3886200"/>
            <a:ext cx="1097280" cy="347472"/>
          </a:xfrm>
          <a:prstGeom prst="roundRect">
            <a:avLst>
              <a:gd name="adj" fmla="val 50000"/>
            </a:avLst>
          </a:prstGeom>
          <a:solidFill>
            <a:schemeClr val="accent3">
              <a:alpha val="15000"/>
            </a:schemeClr>
          </a:solidFill>
          <a:ln w="12700">
            <a:solidFill>
              <a:schemeClr val="accent3"/>
            </a:solidFill>
            <a:prstDash val="solid"/>
          </a:ln>
        </p:spPr>
      </p:sp>
      <p:sp>
        <p:nvSpPr>
          <p:cNvPr id="20" name="Text 15"/>
          <p:cNvSpPr txBox="1"/>
          <p:nvPr/>
        </p:nvSpPr>
        <p:spPr>
          <a:xfrm>
            <a:off x="6949440" y="3886200"/>
            <a:ext cx="1097280" cy="347472"/>
          </a:xfrm>
          <a:prstGeom prst="rect">
            <a:avLst/>
          </a:prstGeom>
          <a:noFill/>
          <a:ln/>
        </p:spPr>
        <p:txBody>
          <a:bodyPr wrap="square" lIns="0" tIns="0" rIns="0" bIns="0" rtlCol="0" anchor="ctr"/>
          <a:lstStyle/>
          <a:p>
            <a:pPr algn="ctr" indent="0" marL="0">
              <a:buNone/>
            </a:pPr>
            <a:r>
              <a:rPr lang="en-US" sz="1300" b="1" dirty="0">
                <a:solidFill>
                  <a:srgbClr val="9A5600"/>
                </a:solidFill>
              </a:rPr>
              <a:t>hold</a:t>
            </a:r>
            <a:endParaRPr lang="en-US" sz="1300" dirty="0"/>
          </a:p>
        </p:txBody>
      </p:sp>
      <p:sp>
        <p:nvSpPr>
          <p:cNvPr id="21" name="Text 16"/>
          <p:cNvSpPr txBox="1"/>
          <p:nvPr/>
        </p:nvSpPr>
        <p:spPr>
          <a:xfrm>
            <a:off x="8183880" y="3886200"/>
            <a:ext cx="3429000" cy="347472"/>
          </a:xfrm>
          <a:prstGeom prst="rect">
            <a:avLst/>
          </a:prstGeom>
          <a:noFill/>
          <a:ln/>
        </p:spPr>
        <p:txBody>
          <a:bodyPr wrap="square" lIns="0" tIns="0" rIns="0" bIns="0" rtlCol="0" anchor="ctr"/>
          <a:lstStyle/>
          <a:p>
            <a:pPr indent="0" marL="0">
              <a:buNone/>
            </a:pPr>
            <a:r>
              <a:rPr lang="en-US" sz="1400" dirty="0">
                <a:solidFill>
                  <a:schemeClr val="tx1"/>
                </a:solidFill>
              </a:rPr>
              <a:t>the agent pauses; the owner confirms</a:t>
            </a:r>
            <a:endParaRPr lang="en-US" sz="1400" dirty="0"/>
          </a:p>
        </p:txBody>
      </p:sp>
      <p:sp>
        <p:nvSpPr>
          <p:cNvPr id="22" name="Outcome block"/>
          <p:cNvSpPr/>
          <p:nvPr/>
        </p:nvSpPr>
        <p:spPr>
          <a:xfrm>
            <a:off x="6949440" y="4325112"/>
            <a:ext cx="1097280" cy="347472"/>
          </a:xfrm>
          <a:prstGeom prst="roundRect">
            <a:avLst>
              <a:gd name="adj" fmla="val 50000"/>
            </a:avLst>
          </a:prstGeom>
          <a:solidFill>
            <a:schemeClr val="accent2">
              <a:alpha val="15000"/>
            </a:schemeClr>
          </a:solidFill>
          <a:ln w="12700">
            <a:solidFill>
              <a:schemeClr val="accent2"/>
            </a:solidFill>
            <a:prstDash val="solid"/>
          </a:ln>
        </p:spPr>
      </p:sp>
      <p:sp>
        <p:nvSpPr>
          <p:cNvPr id="23" name="Text 18"/>
          <p:cNvSpPr txBox="1"/>
          <p:nvPr/>
        </p:nvSpPr>
        <p:spPr>
          <a:xfrm>
            <a:off x="6949440" y="4325112"/>
            <a:ext cx="1097280" cy="347472"/>
          </a:xfrm>
          <a:prstGeom prst="rect">
            <a:avLst/>
          </a:prstGeom>
          <a:noFill/>
          <a:ln/>
        </p:spPr>
        <p:txBody>
          <a:bodyPr wrap="square" lIns="0" tIns="0" rIns="0" bIns="0" rtlCol="0" anchor="ctr"/>
          <a:lstStyle/>
          <a:p>
            <a:pPr algn="ctr" indent="0" marL="0">
              <a:buNone/>
            </a:pPr>
            <a:r>
              <a:rPr lang="en-US" sz="1300" b="1" dirty="0">
                <a:solidFill>
                  <a:schemeClr val="accent2"/>
                </a:solidFill>
              </a:rPr>
              <a:t>block</a:t>
            </a:r>
            <a:endParaRPr lang="en-US" sz="1300" dirty="0"/>
          </a:p>
        </p:txBody>
      </p:sp>
      <p:sp>
        <p:nvSpPr>
          <p:cNvPr id="24" name="Text 19"/>
          <p:cNvSpPr txBox="1"/>
          <p:nvPr/>
        </p:nvSpPr>
        <p:spPr>
          <a:xfrm>
            <a:off x="8183880" y="4325112"/>
            <a:ext cx="3429000" cy="347472"/>
          </a:xfrm>
          <a:prstGeom prst="rect">
            <a:avLst/>
          </a:prstGeom>
          <a:noFill/>
          <a:ln/>
        </p:spPr>
        <p:txBody>
          <a:bodyPr wrap="square" lIns="0" tIns="0" rIns="0" bIns="0" rtlCol="0" anchor="ctr"/>
          <a:lstStyle/>
          <a:p>
            <a:pPr indent="0" marL="0">
              <a:buNone/>
            </a:pPr>
            <a:r>
              <a:rPr lang="en-US" sz="1400" dirty="0">
                <a:solidFill>
                  <a:schemeClr val="tx1"/>
                </a:solidFill>
              </a:rPr>
              <a:t>the payment is stopped</a:t>
            </a:r>
            <a:endParaRPr lang="en-US" sz="1400" dirty="0"/>
          </a:p>
        </p:txBody>
      </p:sp>
      <p:sp>
        <p:nvSpPr>
          <p:cNvPr id="25" name="Text 20"/>
          <p:cNvSpPr txBox="1"/>
          <p:nvPr/>
        </p:nvSpPr>
        <p:spPr>
          <a:xfrm>
            <a:off x="6949440" y="4892040"/>
            <a:ext cx="4690872" cy="13716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Instructions to AI inside a message are evidence, never commands.</a:t>
            </a:r>
            <a:endParaRPr lang="en-US" sz="1300" dirty="0"/>
          </a:p>
          <a:p>
            <a:pPr marL="342900" indent="-342900">
              <a:spcAft>
                <a:spcPts val="400"/>
              </a:spcAft>
              <a:buSzPct val="100000"/>
              <a:buChar char="•"/>
            </a:pPr>
            <a:r>
              <a:rPr lang="en-US" sz="1300" dirty="0">
                <a:solidFill>
                  <a:schemeClr val="tx1"/>
                </a:solidFill>
              </a:rPr>
              <a:t>Under attack the analyst can only add risk; rule floors still hold.</a:t>
            </a:r>
            <a:endParaRPr lang="en-US" sz="1300" dirty="0"/>
          </a:p>
          <a:p>
            <a:pPr marL="342900" indent="-342900">
              <a:spcAft>
                <a:spcPts val="400"/>
              </a:spcAft>
              <a:buSzPct val="100000"/>
              <a:buChar char="•"/>
            </a:pPr>
            <a:r>
              <a:rPr lang="en-US" sz="1300" dirty="0">
                <a:solidFill>
                  <a:schemeClr val="tx1"/>
                </a:solidFill>
              </a:rPr>
              <a:t>12 of 12 injection attacks held in an earlier blind round. Here: 10 of 11 risky agent cases flagged, 0 of 6 safe ones.</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58368"/>
          </a:xfrm>
          <a:prstGeom prst="rect">
            <a:avLst/>
          </a:prstGeom>
          <a:noFill/>
          <a:ln/>
        </p:spPr>
        <p:txBody>
          <a:bodyPr wrap="square" lIns="0" tIns="0" rIns="0" bIns="0" rtlCol="0" anchor="ctr"/>
          <a:lstStyle/>
          <a:p>
            <a:pPr algn="l" indent="0" marL="0">
              <a:buNone/>
            </a:pPr>
            <a:r>
              <a:rPr lang="en-US" sz="3400" b="1" dirty="0">
                <a:solidFill>
                  <a:schemeClr val="tx1"/>
                </a:solidFill>
              </a:rPr>
              <a:t>Turkish is built in, not translated</a:t>
            </a:r>
            <a:endParaRPr lang="en-US" sz="34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indent="0" marL="0">
              <a:buNone/>
            </a:pPr>
            <a:r>
              <a:rPr lang="en-US" sz="1700" dirty="0">
                <a:solidFill>
                  <a:schemeClr val="accent6"/>
                </a:solidFill>
              </a:rPr>
              <a:t>The same tactics, with Turkish patterns, including Turkish typed without Turkish letters.</a:t>
            </a:r>
            <a:endParaRPr lang="en-US" sz="1700" dirty="0"/>
          </a:p>
        </p:txBody>
      </p:sp>
      <p:sp>
        <p:nvSpPr>
          <p:cNvPr id="4" name="Screenshot: Turkish family-impersonation scam frame"/>
          <p:cNvSpPr/>
          <p:nvPr/>
        </p:nvSpPr>
        <p:spPr>
          <a:xfrm>
            <a:off x="512064" y="1655064"/>
            <a:ext cx="6062472" cy="4036673"/>
          </a:xfrm>
          <a:prstGeom prst="rect">
            <a:avLst/>
          </a:prstGeom>
          <a:solidFill>
            <a:schemeClr val="bg1"/>
          </a:solidFill>
          <a:ln w="9525">
            <a:solidFill>
              <a:srgbClr val="E2E5EF"/>
            </a:solidFill>
            <a:prstDash val="solid"/>
          </a:ln>
          <a:effectLst>
            <a:outerShdw sx="100000" sy="100000" kx="0" ky="0" algn="bl" rotWithShape="0" blurRad="127000" dist="25400" dir="5400000">
              <a:srgbClr val="141A33">
                <a:alpha val="12000"/>
              </a:srgbClr>
            </a:outerShdw>
          </a:effectLst>
        </p:spPr>
      </p:sp>
      <p:pic>
        <p:nvPicPr>
          <p:cNvPr id="5" name="Screenshot: Turkish family-impersonation scam" descr="Screenshot: Turkish family-impersonation scam">    </p:cNvPr>
          <p:cNvPicPr>
            <a:picLocks noChangeAspect="1"/>
          </p:cNvPicPr>
          <p:nvPr/>
        </p:nvPicPr>
        <p:blipFill>
          <a:blip r:embed="rId1"/>
          <a:stretch>
            <a:fillRect/>
          </a:stretch>
        </p:blipFill>
        <p:spPr>
          <a:xfrm>
            <a:off x="548640" y="1691640"/>
            <a:ext cx="5989320" cy="3963521"/>
          </a:xfrm>
          <a:prstGeom prst="rect">
            <a:avLst/>
          </a:prstGeom>
        </p:spPr>
      </p:pic>
      <p:sp>
        <p:nvSpPr>
          <p:cNvPr id="6" name="Turkish stat 1"/>
          <p:cNvSpPr/>
          <p:nvPr/>
        </p:nvSpPr>
        <p:spPr>
          <a:xfrm>
            <a:off x="6949440" y="1691640"/>
            <a:ext cx="4690872" cy="969264"/>
          </a:xfrm>
          <a:prstGeom prst="roundRect">
            <a:avLst>
              <a:gd name="adj" fmla="val 11321"/>
            </a:avLst>
          </a:prstGeom>
          <a:solidFill>
            <a:schemeClr val="bg2"/>
          </a:solidFill>
          <a:ln/>
        </p:spPr>
      </p:sp>
      <p:sp>
        <p:nvSpPr>
          <p:cNvPr id="7" name="Text 4"/>
          <p:cNvSpPr txBox="1"/>
          <p:nvPr/>
        </p:nvSpPr>
        <p:spPr>
          <a:xfrm>
            <a:off x="7132320" y="1801368"/>
            <a:ext cx="1554480" cy="731520"/>
          </a:xfrm>
          <a:prstGeom prst="rect">
            <a:avLst/>
          </a:prstGeom>
          <a:noFill/>
          <a:ln/>
        </p:spPr>
        <p:txBody>
          <a:bodyPr wrap="square" lIns="0" tIns="0" rIns="0" bIns="0" rtlCol="0" anchor="ctr"/>
          <a:lstStyle/>
          <a:p>
            <a:pPr indent="0" marL="0">
              <a:buNone/>
            </a:pPr>
            <a:r>
              <a:rPr lang="en-US" sz="2600" b="1" dirty="0">
                <a:solidFill>
                  <a:schemeClr val="accent1"/>
                </a:solidFill>
                <a:latin typeface="+mj-lt" pitchFamily="34" charset="0"/>
                <a:ea typeface="+mj-lt" pitchFamily="34" charset="-122"/>
                <a:cs typeface="+mj-lt" pitchFamily="34" charset="-120"/>
              </a:rPr>
              <a:t>0.80</a:t>
            </a:r>
            <a:endParaRPr lang="en-US" sz="2600" dirty="0"/>
          </a:p>
        </p:txBody>
      </p:sp>
      <p:sp>
        <p:nvSpPr>
          <p:cNvPr id="8" name="Text 5"/>
          <p:cNvSpPr txBox="1"/>
          <p:nvPr/>
        </p:nvSpPr>
        <p:spPr>
          <a:xfrm>
            <a:off x="8686800" y="1783080"/>
            <a:ext cx="2834640" cy="786384"/>
          </a:xfrm>
          <a:prstGeom prst="rect">
            <a:avLst/>
          </a:prstGeom>
          <a:noFill/>
          <a:ln/>
        </p:spPr>
        <p:txBody>
          <a:bodyPr wrap="square" lIns="0" tIns="0" rIns="0" bIns="0" rtlCol="0" anchor="ctr"/>
          <a:lstStyle/>
          <a:p>
            <a:pPr indent="0" marL="0">
              <a:buNone/>
            </a:pPr>
            <a:r>
              <a:rPr lang="en-US" sz="1300" dirty="0">
                <a:solidFill>
                  <a:schemeClr val="tx1"/>
                </a:solidFill>
              </a:rPr>
              <a:t>F1 in Turkish, against 0.78 in English (synthetic set)</a:t>
            </a:r>
            <a:endParaRPr lang="en-US" sz="1300" dirty="0"/>
          </a:p>
        </p:txBody>
      </p:sp>
      <p:sp>
        <p:nvSpPr>
          <p:cNvPr id="9" name="Turkish stat 2"/>
          <p:cNvSpPr/>
          <p:nvPr/>
        </p:nvSpPr>
        <p:spPr>
          <a:xfrm>
            <a:off x="6949440" y="2807208"/>
            <a:ext cx="4690872" cy="969264"/>
          </a:xfrm>
          <a:prstGeom prst="roundRect">
            <a:avLst>
              <a:gd name="adj" fmla="val 11321"/>
            </a:avLst>
          </a:prstGeom>
          <a:solidFill>
            <a:schemeClr val="bg2"/>
          </a:solidFill>
          <a:ln/>
        </p:spPr>
      </p:sp>
      <p:sp>
        <p:nvSpPr>
          <p:cNvPr id="10" name="Text 7"/>
          <p:cNvSpPr txBox="1"/>
          <p:nvPr/>
        </p:nvSpPr>
        <p:spPr>
          <a:xfrm>
            <a:off x="7132320" y="2916936"/>
            <a:ext cx="1554480" cy="731520"/>
          </a:xfrm>
          <a:prstGeom prst="rect">
            <a:avLst/>
          </a:prstGeom>
          <a:noFill/>
          <a:ln/>
        </p:spPr>
        <p:txBody>
          <a:bodyPr wrap="square" lIns="0" tIns="0" rIns="0" bIns="0" rtlCol="0" anchor="ctr"/>
          <a:lstStyle/>
          <a:p>
            <a:pPr indent="0" marL="0">
              <a:buNone/>
            </a:pPr>
            <a:r>
              <a:rPr lang="en-US" sz="2600" b="1" dirty="0">
                <a:solidFill>
                  <a:schemeClr val="accent1"/>
                </a:solidFill>
                <a:latin typeface="+mj-lt" pitchFamily="34" charset="0"/>
                <a:ea typeface="+mj-lt" pitchFamily="34" charset="-122"/>
                <a:cs typeface="+mj-lt" pitchFamily="34" charset="-120"/>
              </a:rPr>
              <a:t>24 of 25</a:t>
            </a:r>
            <a:endParaRPr lang="en-US" sz="2600" dirty="0"/>
          </a:p>
        </p:txBody>
      </p:sp>
      <p:sp>
        <p:nvSpPr>
          <p:cNvPr id="11" name="Text 8"/>
          <p:cNvSpPr txBox="1"/>
          <p:nvPr/>
        </p:nvSpPr>
        <p:spPr>
          <a:xfrm>
            <a:off x="8686800" y="2898648"/>
            <a:ext cx="2834640" cy="786384"/>
          </a:xfrm>
          <a:prstGeom prst="rect">
            <a:avLst/>
          </a:prstGeom>
          <a:noFill/>
          <a:ln/>
        </p:spPr>
        <p:txBody>
          <a:bodyPr wrap="square" lIns="0" tIns="0" rIns="0" bIns="0" rtlCol="0" anchor="ctr"/>
          <a:lstStyle/>
          <a:p>
            <a:pPr indent="0" marL="0">
              <a:buNone/>
            </a:pPr>
            <a:r>
              <a:rPr lang="en-US" sz="1300" dirty="0">
                <a:solidFill>
                  <a:schemeClr val="tx1"/>
                </a:solidFill>
              </a:rPr>
              <a:t>synthetic Turkish scams flagged</a:t>
            </a:r>
            <a:endParaRPr lang="en-US" sz="1300" dirty="0"/>
          </a:p>
        </p:txBody>
      </p:sp>
      <p:sp>
        <p:nvSpPr>
          <p:cNvPr id="12" name="Turkish stat 3"/>
          <p:cNvSpPr/>
          <p:nvPr/>
        </p:nvSpPr>
        <p:spPr>
          <a:xfrm>
            <a:off x="6949440" y="3922776"/>
            <a:ext cx="4690872" cy="969264"/>
          </a:xfrm>
          <a:prstGeom prst="roundRect">
            <a:avLst>
              <a:gd name="adj" fmla="val 11321"/>
            </a:avLst>
          </a:prstGeom>
          <a:solidFill>
            <a:schemeClr val="bg2"/>
          </a:solidFill>
          <a:ln/>
        </p:spPr>
      </p:sp>
      <p:sp>
        <p:nvSpPr>
          <p:cNvPr id="13" name="Text 10"/>
          <p:cNvSpPr txBox="1"/>
          <p:nvPr/>
        </p:nvSpPr>
        <p:spPr>
          <a:xfrm>
            <a:off x="7132320" y="4032504"/>
            <a:ext cx="1554480" cy="731520"/>
          </a:xfrm>
          <a:prstGeom prst="rect">
            <a:avLst/>
          </a:prstGeom>
          <a:noFill/>
          <a:ln/>
        </p:spPr>
        <p:txBody>
          <a:bodyPr wrap="square" lIns="0" tIns="0" rIns="0" bIns="0" rtlCol="0" anchor="ctr"/>
          <a:lstStyle/>
          <a:p>
            <a:pPr indent="0" marL="0">
              <a:buNone/>
            </a:pPr>
            <a:r>
              <a:rPr lang="en-US" sz="2600" b="1" dirty="0">
                <a:solidFill>
                  <a:schemeClr val="accent1"/>
                </a:solidFill>
                <a:latin typeface="+mj-lt" pitchFamily="34" charset="0"/>
                <a:ea typeface="+mj-lt" pitchFamily="34" charset="-122"/>
                <a:cs typeface="+mj-lt" pitchFamily="34" charset="-120"/>
              </a:rPr>
              <a:t>11 of 15</a:t>
            </a:r>
            <a:endParaRPr lang="en-US" sz="2600" dirty="0"/>
          </a:p>
        </p:txBody>
      </p:sp>
      <p:sp>
        <p:nvSpPr>
          <p:cNvPr id="14" name="Text 11"/>
          <p:cNvSpPr txBox="1"/>
          <p:nvPr/>
        </p:nvSpPr>
        <p:spPr>
          <a:xfrm>
            <a:off x="8686800" y="4014216"/>
            <a:ext cx="2834640" cy="786384"/>
          </a:xfrm>
          <a:prstGeom prst="rect">
            <a:avLst/>
          </a:prstGeom>
          <a:noFill/>
          <a:ln/>
        </p:spPr>
        <p:txBody>
          <a:bodyPr wrap="square" lIns="0" tIns="0" rIns="0" bIns="0" rtlCol="0" anchor="ctr"/>
          <a:lstStyle/>
          <a:p>
            <a:pPr indent="0" marL="0">
              <a:buNone/>
            </a:pPr>
            <a:r>
              <a:rPr lang="en-US" sz="1300" dirty="0">
                <a:solidFill>
                  <a:schemeClr val="tx1"/>
                </a:solidFill>
              </a:rPr>
              <a:t>real Turkish SMS that needed a warning were flagged; 10.9% false alarms on the rest, mostly marketing</a:t>
            </a:r>
            <a:endParaRPr lang="en-US" sz="1300" dirty="0"/>
          </a:p>
        </p:txBody>
      </p:sp>
      <p:sp>
        <p:nvSpPr>
          <p:cNvPr id="15" name="Text 12"/>
          <p:cNvSpPr txBox="1"/>
          <p:nvPr/>
        </p:nvSpPr>
        <p:spPr>
          <a:xfrm>
            <a:off x="6949440" y="5120640"/>
            <a:ext cx="4690872" cy="118872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Letter folding (ı→i, ş→s): HESABINIZ, hesabınız and hesabiniz match alike.</a:t>
            </a:r>
            <a:endParaRPr lang="en-US" sz="1300" dirty="0"/>
          </a:p>
          <a:p>
            <a:pPr marL="342900" indent="-342900">
              <a:spcAft>
                <a:spcPts val="400"/>
              </a:spcAft>
              <a:buSzPct val="100000"/>
              <a:buChar char="•"/>
            </a:pPr>
            <a:r>
              <a:rPr lang="en-US" sz="1300" dirty="0">
                <a:solidFill>
                  <a:schemeClr val="tx1"/>
                </a:solidFill>
              </a:rPr>
              <a:t>The warning for family is written in Turkish too.</a:t>
            </a:r>
            <a:endParaRPr lang="en-US" sz="1300" dirty="0"/>
          </a:p>
          <a:p>
            <a:pPr marL="342900" indent="-342900">
              <a:spcAft>
                <a:spcPts val="400"/>
              </a:spcAft>
              <a:buSzPct val="100000"/>
              <a:buChar char="•"/>
            </a:pPr>
            <a:r>
              <a:rPr lang="en-US" sz="1300" dirty="0">
                <a:solidFill>
                  <a:schemeClr val="tx1"/>
                </a:solidFill>
              </a:rPr>
              <a:t>Known gap: the language detector took 23% of real Turkish SMS for English.</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58368"/>
          </a:xfrm>
          <a:prstGeom prst="rect">
            <a:avLst/>
          </a:prstGeom>
          <a:noFill/>
          <a:ln/>
        </p:spPr>
        <p:txBody>
          <a:bodyPr wrap="square" lIns="0" tIns="0" rIns="0" bIns="0" rtlCol="0" anchor="ctr"/>
          <a:lstStyle/>
          <a:p>
            <a:pPr algn="l" indent="0" marL="0">
              <a:buNone/>
            </a:pPr>
            <a:r>
              <a:rPr lang="en-US" sz="3400" b="1" dirty="0">
                <a:solidFill>
                  <a:schemeClr val="tx1"/>
                </a:solidFill>
              </a:rPr>
              <a:t>Private and safe by design</a:t>
            </a:r>
            <a:endParaRPr lang="en-US" sz="34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indent="0" marL="0">
              <a:buNone/>
            </a:pPr>
            <a:r>
              <a:rPr lang="en-US" sz="1700" dirty="0">
                <a:solidFill>
                  <a:schemeClr val="accent6"/>
                </a:solidFill>
              </a:rPr>
              <a:t>Built for messages people would rather not share.</a:t>
            </a:r>
            <a:endParaRPr lang="en-US" sz="1700" dirty="0"/>
          </a:p>
        </p:txBody>
      </p:sp>
      <p:sp>
        <p:nvSpPr>
          <p:cNvPr id="4" name="Static link analysis only"/>
          <p:cNvSpPr/>
          <p:nvPr/>
        </p:nvSpPr>
        <p:spPr>
          <a:xfrm>
            <a:off x="548640" y="1691640"/>
            <a:ext cx="3529584" cy="2011680"/>
          </a:xfrm>
          <a:prstGeom prst="roundRect">
            <a:avLst>
              <a:gd name="adj" fmla="val 5455"/>
            </a:avLst>
          </a:prstGeom>
          <a:solidFill>
            <a:schemeClr val="bg2"/>
          </a:solidFill>
          <a:ln/>
        </p:spPr>
      </p:sp>
      <p:sp>
        <p:nvSpPr>
          <p:cNvPr id="5" name="Static link analysis only circle"/>
          <p:cNvSpPr/>
          <p:nvPr/>
        </p:nvSpPr>
        <p:spPr>
          <a:xfrm>
            <a:off x="777240" y="1920240"/>
            <a:ext cx="566928" cy="566928"/>
          </a:xfrm>
          <a:prstGeom prst="ellipse">
            <a:avLst/>
          </a:prstGeom>
          <a:solidFill>
            <a:schemeClr val="accent1">
              <a:alpha val="14000"/>
            </a:schemeClr>
          </a:solidFill>
          <a:ln/>
        </p:spPr>
      </p:sp>
      <p:pic>
        <p:nvPicPr>
          <p:cNvPr id="6" name="Static link analysis only icon" descr="preencoded.png">    </p:cNvPr>
          <p:cNvPicPr>
            <a:picLocks noChangeAspect="1"/>
          </p:cNvPicPr>
          <p:nvPr/>
        </p:nvPicPr>
        <p:blipFill>
          <a:blip r:embed="rId1"/>
          <a:stretch>
            <a:fillRect/>
          </a:stretch>
        </p:blipFill>
        <p:spPr>
          <a:xfrm>
            <a:off x="913303" y="2056303"/>
            <a:ext cx="294803" cy="294803"/>
          </a:xfrm>
          <a:prstGeom prst="rect">
            <a:avLst/>
          </a:prstGeom>
        </p:spPr>
      </p:pic>
      <p:sp>
        <p:nvSpPr>
          <p:cNvPr id="7" name="Text 4"/>
          <p:cNvSpPr txBox="1"/>
          <p:nvPr/>
        </p:nvSpPr>
        <p:spPr>
          <a:xfrm>
            <a:off x="777240" y="2587752"/>
            <a:ext cx="3108960" cy="347472"/>
          </a:xfrm>
          <a:prstGeom prst="rect">
            <a:avLst/>
          </a:prstGeom>
          <a:noFill/>
          <a:ln/>
        </p:spPr>
        <p:txBody>
          <a:bodyPr wrap="square" lIns="0" tIns="0" rIns="0" bIns="0" rtlCol="0" anchor="t"/>
          <a:lstStyle/>
          <a:p>
            <a:pPr indent="0" marL="0">
              <a:buNone/>
            </a:pPr>
            <a:r>
              <a:rPr lang="en-US" sz="1600" b="1" dirty="0">
                <a:solidFill>
                  <a:schemeClr val="tx1"/>
                </a:solidFill>
              </a:rPr>
              <a:t>Static link analysis only</a:t>
            </a:r>
            <a:endParaRPr lang="en-US" sz="1600" dirty="0"/>
          </a:p>
        </p:txBody>
      </p:sp>
      <p:sp>
        <p:nvSpPr>
          <p:cNvPr id="8" name="Text 5"/>
          <p:cNvSpPr txBox="1"/>
          <p:nvPr/>
        </p:nvSpPr>
        <p:spPr>
          <a:xfrm>
            <a:off x="777240" y="2935224"/>
            <a:ext cx="3108960" cy="694944"/>
          </a:xfrm>
          <a:prstGeom prst="rect">
            <a:avLst/>
          </a:prstGeom>
          <a:noFill/>
          <a:ln/>
        </p:spPr>
        <p:txBody>
          <a:bodyPr wrap="square" lIns="0" tIns="0" rIns="0" bIns="0" rtlCol="0" anchor="t"/>
          <a:lstStyle/>
          <a:p>
            <a:pPr indent="0" marL="0">
              <a:buNone/>
            </a:pPr>
            <a:r>
              <a:rPr lang="en-US" sz="1300" dirty="0">
                <a:solidFill>
                  <a:schemeClr val="tx1"/>
                </a:solidFill>
              </a:rPr>
              <a:t>Never visits, resolves or downloads a link. The tests block network access to prove it.</a:t>
            </a:r>
            <a:endParaRPr lang="en-US" sz="1300" dirty="0"/>
          </a:p>
        </p:txBody>
      </p:sp>
      <p:sp>
        <p:nvSpPr>
          <p:cNvPr id="9" name="No message logging"/>
          <p:cNvSpPr/>
          <p:nvPr/>
        </p:nvSpPr>
        <p:spPr>
          <a:xfrm>
            <a:off x="4329684" y="1691640"/>
            <a:ext cx="3529584" cy="2011680"/>
          </a:xfrm>
          <a:prstGeom prst="roundRect">
            <a:avLst>
              <a:gd name="adj" fmla="val 5455"/>
            </a:avLst>
          </a:prstGeom>
          <a:solidFill>
            <a:schemeClr val="bg2"/>
          </a:solidFill>
          <a:ln/>
        </p:spPr>
      </p:sp>
      <p:sp>
        <p:nvSpPr>
          <p:cNvPr id="10" name="No message logging circle"/>
          <p:cNvSpPr/>
          <p:nvPr/>
        </p:nvSpPr>
        <p:spPr>
          <a:xfrm>
            <a:off x="4558284" y="1920240"/>
            <a:ext cx="566928" cy="566928"/>
          </a:xfrm>
          <a:prstGeom prst="ellipse">
            <a:avLst/>
          </a:prstGeom>
          <a:solidFill>
            <a:schemeClr val="accent1">
              <a:alpha val="14000"/>
            </a:schemeClr>
          </a:solidFill>
          <a:ln/>
        </p:spPr>
      </p:sp>
      <p:pic>
        <p:nvPicPr>
          <p:cNvPr id="11" name="No message logging icon" descr="preencoded.png">    </p:cNvPr>
          <p:cNvPicPr>
            <a:picLocks noChangeAspect="1"/>
          </p:cNvPicPr>
          <p:nvPr/>
        </p:nvPicPr>
        <p:blipFill>
          <a:blip r:embed="rId2"/>
          <a:stretch>
            <a:fillRect/>
          </a:stretch>
        </p:blipFill>
        <p:spPr>
          <a:xfrm>
            <a:off x="4694347" y="2056303"/>
            <a:ext cx="294803" cy="294803"/>
          </a:xfrm>
          <a:prstGeom prst="rect">
            <a:avLst/>
          </a:prstGeom>
        </p:spPr>
      </p:pic>
      <p:sp>
        <p:nvSpPr>
          <p:cNvPr id="12" name="Text 8"/>
          <p:cNvSpPr txBox="1"/>
          <p:nvPr/>
        </p:nvSpPr>
        <p:spPr>
          <a:xfrm>
            <a:off x="4558284" y="2587752"/>
            <a:ext cx="3108960" cy="347472"/>
          </a:xfrm>
          <a:prstGeom prst="rect">
            <a:avLst/>
          </a:prstGeom>
          <a:noFill/>
          <a:ln/>
        </p:spPr>
        <p:txBody>
          <a:bodyPr wrap="square" lIns="0" tIns="0" rIns="0" bIns="0" rtlCol="0" anchor="t"/>
          <a:lstStyle/>
          <a:p>
            <a:pPr indent="0" marL="0">
              <a:buNone/>
            </a:pPr>
            <a:r>
              <a:rPr lang="en-US" sz="1600" b="1" dirty="0">
                <a:solidFill>
                  <a:schemeClr val="tx1"/>
                </a:solidFill>
              </a:rPr>
              <a:t>No message logging</a:t>
            </a:r>
            <a:endParaRPr lang="en-US" sz="1600" dirty="0"/>
          </a:p>
        </p:txBody>
      </p:sp>
      <p:sp>
        <p:nvSpPr>
          <p:cNvPr id="13" name="Text 9"/>
          <p:cNvSpPr txBox="1"/>
          <p:nvPr/>
        </p:nvSpPr>
        <p:spPr>
          <a:xfrm>
            <a:off x="4558284" y="2935224"/>
            <a:ext cx="3108960" cy="694944"/>
          </a:xfrm>
          <a:prstGeom prst="rect">
            <a:avLst/>
          </a:prstGeom>
          <a:noFill/>
          <a:ln/>
        </p:spPr>
        <p:txBody>
          <a:bodyPr wrap="square" lIns="0" tIns="0" rIns="0" bIns="0" rtlCol="0" anchor="t"/>
          <a:lstStyle/>
          <a:p>
            <a:pPr indent="0" marL="0">
              <a:buNone/>
            </a:pPr>
            <a:r>
              <a:rPr lang="en-US" sz="1300" dirty="0">
                <a:solidFill>
                  <a:schemeClr val="tx1"/>
                </a:solidFill>
              </a:rPr>
              <a:t>Logs keep verdicts, scores and timings, never the text.</a:t>
            </a:r>
            <a:endParaRPr lang="en-US" sz="1300" dirty="0"/>
          </a:p>
        </p:txBody>
      </p:sp>
      <p:sp>
        <p:nvSpPr>
          <p:cNvPr id="14" name="Untrusted input stays data"/>
          <p:cNvSpPr/>
          <p:nvPr/>
        </p:nvSpPr>
        <p:spPr>
          <a:xfrm>
            <a:off x="8110728" y="1691640"/>
            <a:ext cx="3529584" cy="2011680"/>
          </a:xfrm>
          <a:prstGeom prst="roundRect">
            <a:avLst>
              <a:gd name="adj" fmla="val 5455"/>
            </a:avLst>
          </a:prstGeom>
          <a:solidFill>
            <a:schemeClr val="bg2"/>
          </a:solidFill>
          <a:ln/>
        </p:spPr>
      </p:sp>
      <p:sp>
        <p:nvSpPr>
          <p:cNvPr id="15" name="Untrusted input stays data circle"/>
          <p:cNvSpPr/>
          <p:nvPr/>
        </p:nvSpPr>
        <p:spPr>
          <a:xfrm>
            <a:off x="8339328" y="1920240"/>
            <a:ext cx="566928" cy="566928"/>
          </a:xfrm>
          <a:prstGeom prst="ellipse">
            <a:avLst/>
          </a:prstGeom>
          <a:solidFill>
            <a:schemeClr val="accent1">
              <a:alpha val="14000"/>
            </a:schemeClr>
          </a:solidFill>
          <a:ln/>
        </p:spPr>
      </p:sp>
      <p:pic>
        <p:nvPicPr>
          <p:cNvPr id="16" name="Untrusted input stays data icon" descr="preencoded.png">    </p:cNvPr>
          <p:cNvPicPr>
            <a:picLocks noChangeAspect="1"/>
          </p:cNvPicPr>
          <p:nvPr/>
        </p:nvPicPr>
        <p:blipFill>
          <a:blip r:embed="rId3"/>
          <a:stretch>
            <a:fillRect/>
          </a:stretch>
        </p:blipFill>
        <p:spPr>
          <a:xfrm>
            <a:off x="8475391" y="2056303"/>
            <a:ext cx="294803" cy="294803"/>
          </a:xfrm>
          <a:prstGeom prst="rect">
            <a:avLst/>
          </a:prstGeom>
        </p:spPr>
      </p:pic>
      <p:sp>
        <p:nvSpPr>
          <p:cNvPr id="17" name="Text 12"/>
          <p:cNvSpPr txBox="1"/>
          <p:nvPr/>
        </p:nvSpPr>
        <p:spPr>
          <a:xfrm>
            <a:off x="8339328" y="2587752"/>
            <a:ext cx="3108960" cy="347472"/>
          </a:xfrm>
          <a:prstGeom prst="rect">
            <a:avLst/>
          </a:prstGeom>
          <a:noFill/>
          <a:ln/>
        </p:spPr>
        <p:txBody>
          <a:bodyPr wrap="square" lIns="0" tIns="0" rIns="0" bIns="0" rtlCol="0" anchor="t"/>
          <a:lstStyle/>
          <a:p>
            <a:pPr indent="0" marL="0">
              <a:buNone/>
            </a:pPr>
            <a:r>
              <a:rPr lang="en-US" sz="1600" b="1" dirty="0">
                <a:solidFill>
                  <a:schemeClr val="tx1"/>
                </a:solidFill>
              </a:rPr>
              <a:t>Untrusted input stays data</a:t>
            </a:r>
            <a:endParaRPr lang="en-US" sz="1600" dirty="0"/>
          </a:p>
        </p:txBody>
      </p:sp>
      <p:sp>
        <p:nvSpPr>
          <p:cNvPr id="18" name="Text 13"/>
          <p:cNvSpPr txBox="1"/>
          <p:nvPr/>
        </p:nvSpPr>
        <p:spPr>
          <a:xfrm>
            <a:off x="8339328" y="2935224"/>
            <a:ext cx="3108960" cy="694944"/>
          </a:xfrm>
          <a:prstGeom prst="rect">
            <a:avLst/>
          </a:prstGeom>
          <a:noFill/>
          <a:ln/>
        </p:spPr>
        <p:txBody>
          <a:bodyPr wrap="square" lIns="0" tIns="0" rIns="0" bIns="0" rtlCol="0" anchor="t"/>
          <a:lstStyle/>
          <a:p>
            <a:pPr indent="0" marL="0">
              <a:buNone/>
            </a:pPr>
            <a:r>
              <a:rPr lang="en-US" sz="1300" dirty="0">
                <a:solidFill>
                  <a:schemeClr val="tx1"/>
                </a:solidFill>
              </a:rPr>
              <a:t>Fenced prompts, a strict Content-Security-Policy and size limits on every field.</a:t>
            </a:r>
            <a:endParaRPr lang="en-US" sz="1300" dirty="0"/>
          </a:p>
        </p:txBody>
      </p:sp>
      <p:sp>
        <p:nvSpPr>
          <p:cNvPr id="19" name="No secrets in the code"/>
          <p:cNvSpPr/>
          <p:nvPr/>
        </p:nvSpPr>
        <p:spPr>
          <a:xfrm>
            <a:off x="548640" y="3849624"/>
            <a:ext cx="3529584" cy="2011680"/>
          </a:xfrm>
          <a:prstGeom prst="roundRect">
            <a:avLst>
              <a:gd name="adj" fmla="val 5455"/>
            </a:avLst>
          </a:prstGeom>
          <a:solidFill>
            <a:schemeClr val="bg2"/>
          </a:solidFill>
          <a:ln/>
        </p:spPr>
      </p:sp>
      <p:sp>
        <p:nvSpPr>
          <p:cNvPr id="20" name="No secrets in the code circle"/>
          <p:cNvSpPr/>
          <p:nvPr/>
        </p:nvSpPr>
        <p:spPr>
          <a:xfrm>
            <a:off x="777240" y="4078224"/>
            <a:ext cx="566928" cy="566928"/>
          </a:xfrm>
          <a:prstGeom prst="ellipse">
            <a:avLst/>
          </a:prstGeom>
          <a:solidFill>
            <a:schemeClr val="accent1">
              <a:alpha val="14000"/>
            </a:schemeClr>
          </a:solidFill>
          <a:ln/>
        </p:spPr>
      </p:sp>
      <p:pic>
        <p:nvPicPr>
          <p:cNvPr id="21" name="No secrets in the code icon" descr="preencoded.png">    </p:cNvPr>
          <p:cNvPicPr>
            <a:picLocks noChangeAspect="1"/>
          </p:cNvPicPr>
          <p:nvPr/>
        </p:nvPicPr>
        <p:blipFill>
          <a:blip r:embed="rId4"/>
          <a:stretch>
            <a:fillRect/>
          </a:stretch>
        </p:blipFill>
        <p:spPr>
          <a:xfrm>
            <a:off x="913303" y="4214287"/>
            <a:ext cx="294803" cy="294803"/>
          </a:xfrm>
          <a:prstGeom prst="rect">
            <a:avLst/>
          </a:prstGeom>
        </p:spPr>
      </p:pic>
      <p:sp>
        <p:nvSpPr>
          <p:cNvPr id="22" name="Text 16"/>
          <p:cNvSpPr txBox="1"/>
          <p:nvPr/>
        </p:nvSpPr>
        <p:spPr>
          <a:xfrm>
            <a:off x="777240" y="4745736"/>
            <a:ext cx="3108960" cy="347472"/>
          </a:xfrm>
          <a:prstGeom prst="rect">
            <a:avLst/>
          </a:prstGeom>
          <a:noFill/>
          <a:ln/>
        </p:spPr>
        <p:txBody>
          <a:bodyPr wrap="square" lIns="0" tIns="0" rIns="0" bIns="0" rtlCol="0" anchor="t"/>
          <a:lstStyle/>
          <a:p>
            <a:pPr indent="0" marL="0">
              <a:buNone/>
            </a:pPr>
            <a:r>
              <a:rPr lang="en-US" sz="1600" b="1" dirty="0">
                <a:solidFill>
                  <a:schemeClr val="tx1"/>
                </a:solidFill>
              </a:rPr>
              <a:t>No secrets in the code</a:t>
            </a:r>
            <a:endParaRPr lang="en-US" sz="1600" dirty="0"/>
          </a:p>
        </p:txBody>
      </p:sp>
      <p:sp>
        <p:nvSpPr>
          <p:cNvPr id="23" name="Text 17"/>
          <p:cNvSpPr txBox="1"/>
          <p:nvPr/>
        </p:nvSpPr>
        <p:spPr>
          <a:xfrm>
            <a:off x="777240" y="5093208"/>
            <a:ext cx="3108960" cy="694944"/>
          </a:xfrm>
          <a:prstGeom prst="rect">
            <a:avLst/>
          </a:prstGeom>
          <a:noFill/>
          <a:ln/>
        </p:spPr>
        <p:txBody>
          <a:bodyPr wrap="square" lIns="0" tIns="0" rIns="0" bIns="0" rtlCol="0" anchor="t"/>
          <a:lstStyle/>
          <a:p>
            <a:pPr indent="0" marL="0">
              <a:buNone/>
            </a:pPr>
            <a:r>
              <a:rPr lang="en-US" sz="1300" dirty="0">
                <a:solidFill>
                  <a:schemeClr val="tx1"/>
                </a:solidFill>
              </a:rPr>
              <a:t>Keys come from the environment. Any OpenAI-compatible endpoint works, including a self-hosted one.</a:t>
            </a:r>
            <a:endParaRPr lang="en-US" sz="1300" dirty="0"/>
          </a:p>
        </p:txBody>
      </p:sp>
      <p:sp>
        <p:nvSpPr>
          <p:cNvPr id="24" name="No &quot;written by AI?&quot; guesswork"/>
          <p:cNvSpPr/>
          <p:nvPr/>
        </p:nvSpPr>
        <p:spPr>
          <a:xfrm>
            <a:off x="4329684" y="3849624"/>
            <a:ext cx="3529584" cy="2011680"/>
          </a:xfrm>
          <a:prstGeom prst="roundRect">
            <a:avLst>
              <a:gd name="adj" fmla="val 5455"/>
            </a:avLst>
          </a:prstGeom>
          <a:solidFill>
            <a:schemeClr val="bg2"/>
          </a:solidFill>
          <a:ln/>
        </p:spPr>
      </p:sp>
      <p:sp>
        <p:nvSpPr>
          <p:cNvPr id="25" name="No &quot;written by AI?&quot; guesswork circle"/>
          <p:cNvSpPr/>
          <p:nvPr/>
        </p:nvSpPr>
        <p:spPr>
          <a:xfrm>
            <a:off x="4558284" y="4078224"/>
            <a:ext cx="566928" cy="566928"/>
          </a:xfrm>
          <a:prstGeom prst="ellipse">
            <a:avLst/>
          </a:prstGeom>
          <a:solidFill>
            <a:schemeClr val="accent1">
              <a:alpha val="14000"/>
            </a:schemeClr>
          </a:solidFill>
          <a:ln/>
        </p:spPr>
      </p:sp>
      <p:pic>
        <p:nvPicPr>
          <p:cNvPr id="26" name="No &quot;written by AI?&quot; guesswork icon" descr="preencoded.png">    </p:cNvPr>
          <p:cNvPicPr>
            <a:picLocks noChangeAspect="1"/>
          </p:cNvPicPr>
          <p:nvPr/>
        </p:nvPicPr>
        <p:blipFill>
          <a:blip r:embed="rId5"/>
          <a:stretch>
            <a:fillRect/>
          </a:stretch>
        </p:blipFill>
        <p:spPr>
          <a:xfrm>
            <a:off x="4694347" y="4214287"/>
            <a:ext cx="294803" cy="294803"/>
          </a:xfrm>
          <a:prstGeom prst="rect">
            <a:avLst/>
          </a:prstGeom>
        </p:spPr>
      </p:pic>
      <p:sp>
        <p:nvSpPr>
          <p:cNvPr id="27" name="Text 20"/>
          <p:cNvSpPr txBox="1"/>
          <p:nvPr/>
        </p:nvSpPr>
        <p:spPr>
          <a:xfrm>
            <a:off x="4558284" y="4745736"/>
            <a:ext cx="3108960" cy="347472"/>
          </a:xfrm>
          <a:prstGeom prst="rect">
            <a:avLst/>
          </a:prstGeom>
          <a:noFill/>
          <a:ln/>
        </p:spPr>
        <p:txBody>
          <a:bodyPr wrap="square" lIns="0" tIns="0" rIns="0" bIns="0" rtlCol="0" anchor="t"/>
          <a:lstStyle/>
          <a:p>
            <a:pPr indent="0" marL="0">
              <a:buNone/>
            </a:pPr>
            <a:r>
              <a:rPr lang="en-US" sz="1600" b="1" dirty="0">
                <a:solidFill>
                  <a:schemeClr val="tx1"/>
                </a:solidFill>
              </a:rPr>
              <a:t>No "written by AI?" guesswork</a:t>
            </a:r>
            <a:endParaRPr lang="en-US" sz="1600" dirty="0"/>
          </a:p>
        </p:txBody>
      </p:sp>
      <p:sp>
        <p:nvSpPr>
          <p:cNvPr id="28" name="Text 21"/>
          <p:cNvSpPr txBox="1"/>
          <p:nvPr/>
        </p:nvSpPr>
        <p:spPr>
          <a:xfrm>
            <a:off x="4558284" y="5093208"/>
            <a:ext cx="3108960" cy="694944"/>
          </a:xfrm>
          <a:prstGeom prst="rect">
            <a:avLst/>
          </a:prstGeom>
          <a:noFill/>
          <a:ln/>
        </p:spPr>
        <p:txBody>
          <a:bodyPr wrap="square" lIns="0" tIns="0" rIns="0" bIns="0" rtlCol="0" anchor="t"/>
          <a:lstStyle/>
          <a:p>
            <a:pPr indent="0" marL="0">
              <a:buNone/>
            </a:pPr>
            <a:r>
              <a:rPr lang="en-US" sz="1300" dirty="0">
                <a:solidFill>
                  <a:schemeClr val="tx1"/>
                </a:solidFill>
              </a:rPr>
              <a:t>It judges what a message asks you to do, not who or what wrote it.</a:t>
            </a:r>
            <a:endParaRPr lang="en-US" sz="1300" dirty="0"/>
          </a:p>
        </p:txBody>
      </p:sp>
      <p:sp>
        <p:nvSpPr>
          <p:cNvPr id="29" name="An evaluation that exposes no one"/>
          <p:cNvSpPr/>
          <p:nvPr/>
        </p:nvSpPr>
        <p:spPr>
          <a:xfrm>
            <a:off x="8110728" y="3849624"/>
            <a:ext cx="3529584" cy="2011680"/>
          </a:xfrm>
          <a:prstGeom prst="roundRect">
            <a:avLst>
              <a:gd name="adj" fmla="val 5455"/>
            </a:avLst>
          </a:prstGeom>
          <a:solidFill>
            <a:schemeClr val="bg2"/>
          </a:solidFill>
          <a:ln/>
        </p:spPr>
      </p:sp>
      <p:sp>
        <p:nvSpPr>
          <p:cNvPr id="30" name="An evaluation that exposes no one circle"/>
          <p:cNvSpPr/>
          <p:nvPr/>
        </p:nvSpPr>
        <p:spPr>
          <a:xfrm>
            <a:off x="8339328" y="4078224"/>
            <a:ext cx="566928" cy="566928"/>
          </a:xfrm>
          <a:prstGeom prst="ellipse">
            <a:avLst/>
          </a:prstGeom>
          <a:solidFill>
            <a:schemeClr val="accent1">
              <a:alpha val="14000"/>
            </a:schemeClr>
          </a:solidFill>
          <a:ln/>
        </p:spPr>
      </p:sp>
      <p:pic>
        <p:nvPicPr>
          <p:cNvPr id="31" name="An evaluation that exposes no one icon" descr="preencoded.png">    </p:cNvPr>
          <p:cNvPicPr>
            <a:picLocks noChangeAspect="1"/>
          </p:cNvPicPr>
          <p:nvPr/>
        </p:nvPicPr>
        <p:blipFill>
          <a:blip r:embed="rId6"/>
          <a:stretch>
            <a:fillRect/>
          </a:stretch>
        </p:blipFill>
        <p:spPr>
          <a:xfrm>
            <a:off x="8475391" y="4214287"/>
            <a:ext cx="294803" cy="294803"/>
          </a:xfrm>
          <a:prstGeom prst="rect">
            <a:avLst/>
          </a:prstGeom>
        </p:spPr>
      </p:pic>
      <p:sp>
        <p:nvSpPr>
          <p:cNvPr id="32" name="Text 24"/>
          <p:cNvSpPr txBox="1"/>
          <p:nvPr/>
        </p:nvSpPr>
        <p:spPr>
          <a:xfrm>
            <a:off x="8339328" y="4745736"/>
            <a:ext cx="3108960" cy="347472"/>
          </a:xfrm>
          <a:prstGeom prst="rect">
            <a:avLst/>
          </a:prstGeom>
          <a:noFill/>
          <a:ln/>
        </p:spPr>
        <p:txBody>
          <a:bodyPr wrap="square" lIns="0" tIns="0" rIns="0" bIns="0" rtlCol="0" anchor="t"/>
          <a:lstStyle/>
          <a:p>
            <a:pPr indent="0" marL="0">
              <a:buNone/>
            </a:pPr>
            <a:r>
              <a:rPr lang="en-US" sz="1600" b="1" dirty="0">
                <a:solidFill>
                  <a:schemeClr val="tx1"/>
                </a:solidFill>
              </a:rPr>
              <a:t>An evaluation that exposes no one</a:t>
            </a:r>
            <a:endParaRPr lang="en-US" sz="1600" dirty="0"/>
          </a:p>
        </p:txBody>
      </p:sp>
      <p:sp>
        <p:nvSpPr>
          <p:cNvPr id="33" name="Text 25"/>
          <p:cNvSpPr txBox="1"/>
          <p:nvPr/>
        </p:nvSpPr>
        <p:spPr>
          <a:xfrm>
            <a:off x="8339328" y="5093208"/>
            <a:ext cx="3108960" cy="694944"/>
          </a:xfrm>
          <a:prstGeom prst="rect">
            <a:avLst/>
          </a:prstGeom>
          <a:noFill/>
          <a:ln/>
        </p:spPr>
        <p:txBody>
          <a:bodyPr wrap="square" lIns="0" tIns="0" rIns="0" bIns="0" rtlCol="0" anchor="t"/>
          <a:lstStyle/>
          <a:p>
            <a:pPr indent="0" marL="0">
              <a:buNone/>
            </a:pPr>
            <a:r>
              <a:rPr lang="en-US" sz="1300" dirty="0">
                <a:solidFill>
                  <a:schemeClr val="tx1"/>
                </a:solidFill>
              </a:rPr>
              <a:t>Real test messages are never published: only ids, labels and hashes.</a:t>
            </a:r>
            <a:endParaRPr lang="en-US" sz="1300" dirty="0"/>
          </a:p>
        </p:txBody>
      </p:sp>
      <p:sp>
        <p:nvSpPr>
          <p:cNvPr id="34" name="Text 26"/>
          <p:cNvSpPr txBox="1"/>
          <p:nvPr/>
        </p:nvSpPr>
        <p:spPr>
          <a:xfrm>
            <a:off x="548640" y="6016752"/>
            <a:ext cx="11064240" cy="292608"/>
          </a:xfrm>
          <a:prstGeom prst="rect">
            <a:avLst/>
          </a:prstGeom>
          <a:noFill/>
          <a:ln/>
        </p:spPr>
        <p:txBody>
          <a:bodyPr wrap="square" lIns="0" tIns="0" rIns="0" bIns="0" rtlCol="0" anchor="t"/>
          <a:lstStyle/>
          <a:p>
            <a:pPr indent="0" marL="0">
              <a:buNone/>
            </a:pPr>
            <a:r>
              <a:rPr lang="en-US" sz="1300" i="1" dirty="0">
                <a:solidFill>
                  <a:schemeClr val="accent6"/>
                </a:solidFill>
              </a:rPr>
              <a:t>In live mode the message text goes to the configured LLM provider; TrustGate itself stores nothing.</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58368"/>
          </a:xfrm>
          <a:prstGeom prst="rect">
            <a:avLst/>
          </a:prstGeom>
          <a:noFill/>
          <a:ln/>
        </p:spPr>
        <p:txBody>
          <a:bodyPr wrap="square" lIns="0" tIns="0" rIns="0" bIns="0" rtlCol="0" anchor="ctr"/>
          <a:lstStyle/>
          <a:p>
            <a:pPr algn="l" indent="0" marL="0">
              <a:buNone/>
            </a:pPr>
            <a:r>
              <a:rPr lang="en-US" sz="3400" b="1" dirty="0">
                <a:solidFill>
                  <a:schemeClr val="tx1"/>
                </a:solidFill>
              </a:rPr>
              <a:t>Known limitations, measured</a:t>
            </a:r>
            <a:endParaRPr lang="en-US" sz="34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indent="0" marL="0">
              <a:buNone/>
            </a:pPr>
            <a:r>
              <a:rPr lang="en-US" sz="1700" dirty="0">
                <a:solidFill>
                  <a:schemeClr val="accent6"/>
                </a:solidFill>
              </a:rPr>
              <a:t>What does not work yet, with the numbers. Each item has a fix planned for the final.</a:t>
            </a:r>
            <a:endParaRPr lang="en-US" sz="1700" dirty="0"/>
          </a:p>
        </p:txBody>
      </p:sp>
      <p:sp>
        <p:nvSpPr>
          <p:cNvPr id="4" name="The detector"/>
          <p:cNvSpPr/>
          <p:nvPr/>
        </p:nvSpPr>
        <p:spPr>
          <a:xfrm>
            <a:off x="548640" y="1691640"/>
            <a:ext cx="5449824" cy="4023360"/>
          </a:xfrm>
          <a:prstGeom prst="roundRect">
            <a:avLst>
              <a:gd name="adj" fmla="val 2727"/>
            </a:avLst>
          </a:prstGeom>
          <a:solidFill>
            <a:schemeClr val="bg2"/>
          </a:solidFill>
          <a:ln/>
        </p:spPr>
      </p:sp>
      <p:sp>
        <p:nvSpPr>
          <p:cNvPr id="5" name="The detector circle"/>
          <p:cNvSpPr/>
          <p:nvPr/>
        </p:nvSpPr>
        <p:spPr>
          <a:xfrm>
            <a:off x="777240" y="1874520"/>
            <a:ext cx="566928" cy="566928"/>
          </a:xfrm>
          <a:prstGeom prst="ellipse">
            <a:avLst/>
          </a:prstGeom>
          <a:solidFill>
            <a:schemeClr val="accent2">
              <a:alpha val="14000"/>
            </a:schemeClr>
          </a:solidFill>
          <a:ln/>
        </p:spPr>
      </p:sp>
      <p:pic>
        <p:nvPicPr>
          <p:cNvPr id="6" name="The detector icon" descr="preencoded.png">    </p:cNvPr>
          <p:cNvPicPr>
            <a:picLocks noChangeAspect="1"/>
          </p:cNvPicPr>
          <p:nvPr/>
        </p:nvPicPr>
        <p:blipFill>
          <a:blip r:embed="rId1"/>
          <a:stretch>
            <a:fillRect/>
          </a:stretch>
        </p:blipFill>
        <p:spPr>
          <a:xfrm>
            <a:off x="913303" y="2010583"/>
            <a:ext cx="294803" cy="294803"/>
          </a:xfrm>
          <a:prstGeom prst="rect">
            <a:avLst/>
          </a:prstGeom>
        </p:spPr>
      </p:pic>
      <p:sp>
        <p:nvSpPr>
          <p:cNvPr id="7" name="Text 4"/>
          <p:cNvSpPr txBox="1"/>
          <p:nvPr/>
        </p:nvSpPr>
        <p:spPr>
          <a:xfrm>
            <a:off x="1508760" y="1874520"/>
            <a:ext cx="4206240" cy="566928"/>
          </a:xfrm>
          <a:prstGeom prst="rect">
            <a:avLst/>
          </a:prstGeom>
          <a:noFill/>
          <a:ln/>
        </p:spPr>
        <p:txBody>
          <a:bodyPr wrap="square" lIns="0" tIns="0" rIns="0" bIns="0" rtlCol="0" anchor="ctr"/>
          <a:lstStyle/>
          <a:p>
            <a:pPr indent="0" marL="0">
              <a:buNone/>
            </a:pPr>
            <a:r>
              <a:rPr lang="en-US" sz="1900" b="1" dirty="0">
                <a:solidFill>
                  <a:schemeClr val="tx1"/>
                </a:solidFill>
              </a:rPr>
              <a:t>The detector</a:t>
            </a:r>
            <a:endParaRPr lang="en-US" sz="1900" dirty="0"/>
          </a:p>
        </p:txBody>
      </p:sp>
      <p:sp>
        <p:nvSpPr>
          <p:cNvPr id="8" name="Text 5"/>
          <p:cNvSpPr txBox="1"/>
          <p:nvPr/>
        </p:nvSpPr>
        <p:spPr>
          <a:xfrm>
            <a:off x="822960" y="2651760"/>
            <a:ext cx="4937760" cy="297180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chemeClr val="tx1"/>
                </a:solidFill>
              </a:rPr>
              <a:t>Subtle 'check first' messages: only 20 of 50 synthetic ones flagged.</a:t>
            </a:r>
            <a:endParaRPr lang="en-US" sz="1600" dirty="0"/>
          </a:p>
          <a:p>
            <a:pPr marL="342900" indent="-342900">
              <a:spcAft>
                <a:spcPts val="900"/>
              </a:spcAft>
              <a:buSzPct val="100000"/>
              <a:buChar char="•"/>
            </a:pPr>
            <a:r>
              <a:rPr lang="en-US" sz="1600" dirty="0">
                <a:solidFill>
                  <a:schemeClr val="tx1"/>
                </a:solidFill>
              </a:rPr>
              <a:t>Scams under-graded: 47 of 48 real scams got a warning, but only 7 were called dangerous.</a:t>
            </a:r>
            <a:endParaRPr lang="en-US" sz="1600" dirty="0"/>
          </a:p>
          <a:p>
            <a:pPr marL="342900" indent="-342900">
              <a:spcAft>
                <a:spcPts val="900"/>
              </a:spcAft>
              <a:buSzPct val="100000"/>
              <a:buChar char="•"/>
            </a:pPr>
            <a:r>
              <a:rPr lang="en-US" sz="1600" dirty="0">
                <a:solidFill>
                  <a:schemeClr val="tx1"/>
                </a:solidFill>
              </a:rPr>
              <a:t>False alarms on 11.5% of safe real messages, mostly marketing; about 1 legitimate message in 20.</a:t>
            </a:r>
            <a:endParaRPr lang="en-US" sz="1600" dirty="0"/>
          </a:p>
          <a:p>
            <a:pPr marL="342900" indent="-342900">
              <a:spcAft>
                <a:spcPts val="900"/>
              </a:spcAft>
              <a:buSzPct val="100000"/>
              <a:buChar char="•"/>
            </a:pPr>
            <a:r>
              <a:rPr lang="en-US" sz="1600" dirty="0">
                <a:solidFill>
                  <a:schemeClr val="tx1"/>
                </a:solidFill>
              </a:rPr>
              <a:t>A bank's fraud-warning newsletter was called dangerous: the rules read the scam phrases it warns about.</a:t>
            </a:r>
            <a:endParaRPr lang="en-US" sz="1600" dirty="0"/>
          </a:p>
          <a:p>
            <a:pPr marL="342900" indent="-342900">
              <a:spcAft>
                <a:spcPts val="900"/>
              </a:spcAft>
              <a:buSzPct val="100000"/>
              <a:buChar char="•"/>
            </a:pPr>
            <a:r>
              <a:rPr lang="en-US" sz="1600" dirty="0">
                <a:solidFill>
                  <a:schemeClr val="tx1"/>
                </a:solidFill>
              </a:rPr>
              <a:t>Language detection missed 23% of real Turkish SMS.</a:t>
            </a:r>
            <a:endParaRPr lang="en-US" sz="1600" dirty="0"/>
          </a:p>
        </p:txBody>
      </p:sp>
      <p:sp>
        <p:nvSpPr>
          <p:cNvPr id="9" name="The evaluation"/>
          <p:cNvSpPr/>
          <p:nvPr/>
        </p:nvSpPr>
        <p:spPr>
          <a:xfrm>
            <a:off x="6190488" y="1691640"/>
            <a:ext cx="5449824" cy="4023360"/>
          </a:xfrm>
          <a:prstGeom prst="roundRect">
            <a:avLst>
              <a:gd name="adj" fmla="val 2727"/>
            </a:avLst>
          </a:prstGeom>
          <a:solidFill>
            <a:schemeClr val="bg2"/>
          </a:solidFill>
          <a:ln/>
        </p:spPr>
      </p:sp>
      <p:sp>
        <p:nvSpPr>
          <p:cNvPr id="10" name="The evaluation circle"/>
          <p:cNvSpPr/>
          <p:nvPr/>
        </p:nvSpPr>
        <p:spPr>
          <a:xfrm>
            <a:off x="6419088" y="1874520"/>
            <a:ext cx="566928" cy="566928"/>
          </a:xfrm>
          <a:prstGeom prst="ellipse">
            <a:avLst/>
          </a:prstGeom>
          <a:solidFill>
            <a:schemeClr val="accent6">
              <a:alpha val="14000"/>
            </a:schemeClr>
          </a:solidFill>
          <a:ln/>
        </p:spPr>
      </p:sp>
      <p:pic>
        <p:nvPicPr>
          <p:cNvPr id="11" name="The evaluation icon" descr="preencoded.png">    </p:cNvPr>
          <p:cNvPicPr>
            <a:picLocks noChangeAspect="1"/>
          </p:cNvPicPr>
          <p:nvPr/>
        </p:nvPicPr>
        <p:blipFill>
          <a:blip r:embed="rId2"/>
          <a:stretch>
            <a:fillRect/>
          </a:stretch>
        </p:blipFill>
        <p:spPr>
          <a:xfrm>
            <a:off x="6555151" y="2010583"/>
            <a:ext cx="294803" cy="294803"/>
          </a:xfrm>
          <a:prstGeom prst="rect">
            <a:avLst/>
          </a:prstGeom>
        </p:spPr>
      </p:pic>
      <p:sp>
        <p:nvSpPr>
          <p:cNvPr id="12" name="Text 8"/>
          <p:cNvSpPr txBox="1"/>
          <p:nvPr/>
        </p:nvSpPr>
        <p:spPr>
          <a:xfrm>
            <a:off x="7150608" y="1874520"/>
            <a:ext cx="4206240" cy="566928"/>
          </a:xfrm>
          <a:prstGeom prst="rect">
            <a:avLst/>
          </a:prstGeom>
          <a:noFill/>
          <a:ln/>
        </p:spPr>
        <p:txBody>
          <a:bodyPr wrap="square" lIns="0" tIns="0" rIns="0" bIns="0" rtlCol="0" anchor="ctr"/>
          <a:lstStyle/>
          <a:p>
            <a:pPr indent="0" marL="0">
              <a:buNone/>
            </a:pPr>
            <a:r>
              <a:rPr lang="en-US" sz="1900" b="1" dirty="0">
                <a:solidFill>
                  <a:schemeClr val="tx1"/>
                </a:solidFill>
              </a:rPr>
              <a:t>The evaluation</a:t>
            </a:r>
            <a:endParaRPr lang="en-US" sz="1900" dirty="0"/>
          </a:p>
        </p:txBody>
      </p:sp>
      <p:sp>
        <p:nvSpPr>
          <p:cNvPr id="13" name="Text 9"/>
          <p:cNvSpPr txBox="1"/>
          <p:nvPr/>
        </p:nvSpPr>
        <p:spPr>
          <a:xfrm>
            <a:off x="6464808" y="2651760"/>
            <a:ext cx="4937760" cy="297180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chemeClr val="tx1"/>
                </a:solidFill>
              </a:rPr>
              <a:t>Labels from independent AI agents, re-checked by another AI on 10%; no human check yet.</a:t>
            </a:r>
            <a:endParaRPr lang="en-US" sz="1600" dirty="0"/>
          </a:p>
          <a:p>
            <a:pPr marL="342900" indent="-342900">
              <a:spcAft>
                <a:spcPts val="900"/>
              </a:spcAft>
              <a:buSzPct val="100000"/>
              <a:buChar char="•"/>
            </a:pPr>
            <a:r>
              <a:rPr lang="en-US" sz="1600" dirty="0">
                <a:solidFill>
                  <a:schemeClr val="tx1"/>
                </a:solidFill>
              </a:rPr>
              <a:t>No real WhatsApp data; the real Turkish set is from about 2011 and almost all safe.</a:t>
            </a:r>
            <a:endParaRPr lang="en-US" sz="1600" dirty="0"/>
          </a:p>
          <a:p>
            <a:pPr marL="342900" indent="-342900">
              <a:spcAft>
                <a:spcPts val="900"/>
              </a:spcAft>
              <a:buSzPct val="100000"/>
              <a:buChar char="•"/>
            </a:pPr>
            <a:r>
              <a:rPr lang="en-US" sz="1600" dirty="0">
                <a:solidFill>
                  <a:schemeClr val="tx1"/>
                </a:solidFill>
              </a:rPr>
              <a:t>Synthetic cases written by AI agents may be cleaner than real scams.</a:t>
            </a:r>
            <a:endParaRPr lang="en-US" sz="1600" dirty="0"/>
          </a:p>
          <a:p>
            <a:pPr marL="342900" indent="-342900">
              <a:spcAft>
                <a:spcPts val="900"/>
              </a:spcAft>
              <a:buSzPct val="100000"/>
              <a:buChar char="•"/>
            </a:pPr>
            <a:r>
              <a:rPr lang="en-US" sz="1600" dirty="0">
                <a:solidFill>
                  <a:schemeClr val="tx1"/>
                </a:solidFill>
              </a:rPr>
              <a:t>One run, at temperature 0.1; latency measured off-platform.</a:t>
            </a:r>
            <a:endParaRPr lang="en-US" sz="1600" dirty="0"/>
          </a:p>
        </p:txBody>
      </p:sp>
      <p:sp>
        <p:nvSpPr>
          <p:cNvPr id="14" name="Text 10"/>
          <p:cNvSpPr txBox="1"/>
          <p:nvPr/>
        </p:nvSpPr>
        <p:spPr>
          <a:xfrm>
            <a:off x="548640" y="5943600"/>
            <a:ext cx="11064240" cy="320040"/>
          </a:xfrm>
          <a:prstGeom prst="rect">
            <a:avLst/>
          </a:prstGeom>
          <a:noFill/>
          <a:ln/>
        </p:spPr>
        <p:txBody>
          <a:bodyPr wrap="square" lIns="0" tIns="0" rIns="0" bIns="0" rtlCol="0" anchor="t"/>
          <a:lstStyle/>
          <a:p>
            <a:pPr indent="0" marL="0">
              <a:buNone/>
            </a:pPr>
            <a:r>
              <a:rPr lang="en-US" sz="1300" i="1" dirty="0">
                <a:solidFill>
                  <a:schemeClr val="accent6"/>
                </a:solidFill>
              </a:rPr>
              <a:t>Every number here is in eval/README.md, with 95% intervals and one result row per message.</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58368"/>
          </a:xfrm>
          <a:prstGeom prst="rect">
            <a:avLst/>
          </a:prstGeom>
          <a:noFill/>
          <a:ln/>
        </p:spPr>
        <p:txBody>
          <a:bodyPr wrap="square" lIns="0" tIns="0" rIns="0" bIns="0" rtlCol="0" anchor="ctr"/>
          <a:lstStyle/>
          <a:p>
            <a:pPr algn="l" indent="0" marL="0">
              <a:buNone/>
            </a:pPr>
            <a:r>
              <a:rPr lang="en-US" sz="3400" b="1" dirty="0">
                <a:solidFill>
                  <a:schemeClr val="bg1"/>
                </a:solidFill>
              </a:rPr>
              <a:t>Next: fix, prove, plug into payments</a:t>
            </a:r>
            <a:endParaRPr lang="en-US" sz="3400" dirty="0"/>
          </a:p>
        </p:txBody>
      </p:sp>
      <p:sp>
        <p:nvSpPr>
          <p:cNvPr id="3" name="Text 0"/>
          <p:cNvSpPr/>
          <p:nvPr>
            <p:ph idx="101" type="body" hasCustomPrompt="1"/>
          </p:nvPr>
        </p:nvSpPr>
        <p:spPr>
          <a:xfrm>
            <a:off x="548640" y="1005840"/>
            <a:ext cx="11094415" cy="411480"/>
          </a:xfrm>
          <a:prstGeom prst="rect">
            <a:avLst/>
          </a:prstGeom>
          <a:noFill/>
          <a:ln/>
        </p:spPr>
        <p:txBody>
          <a:bodyPr wrap="square" lIns="0" tIns="0" rIns="0" bIns="0" rtlCol="0" anchor="t"/>
          <a:lstStyle/>
          <a:p>
            <a:pPr indent="0" marL="0">
              <a:buNone/>
            </a:pPr>
            <a:r>
              <a:rPr lang="en-US" sz="1700" dirty="0">
                <a:solidFill>
                  <a:schemeClr val="bg2"/>
                </a:solidFill>
              </a:rPr>
              <a:t>Before the final (31 October – 1 November) and after it.</a:t>
            </a:r>
            <a:endParaRPr lang="en-US" sz="1700" dirty="0"/>
          </a:p>
        </p:txBody>
      </p:sp>
      <p:sp>
        <p:nvSpPr>
          <p:cNvPr id="4" name="Fix"/>
          <p:cNvSpPr/>
          <p:nvPr/>
        </p:nvSpPr>
        <p:spPr>
          <a:xfrm>
            <a:off x="548640" y="1691640"/>
            <a:ext cx="3529584" cy="3520440"/>
          </a:xfrm>
          <a:prstGeom prst="roundRect">
            <a:avLst>
              <a:gd name="adj" fmla="val 3117"/>
            </a:avLst>
          </a:prstGeom>
          <a:solidFill>
            <a:srgbClr val="161B2F"/>
          </a:solidFill>
          <a:ln/>
        </p:spPr>
      </p:sp>
      <p:sp>
        <p:nvSpPr>
          <p:cNvPr id="5" name="Fix circle"/>
          <p:cNvSpPr/>
          <p:nvPr/>
        </p:nvSpPr>
        <p:spPr>
          <a:xfrm>
            <a:off x="777240" y="1892808"/>
            <a:ext cx="603504" cy="603504"/>
          </a:xfrm>
          <a:prstGeom prst="ellipse">
            <a:avLst/>
          </a:prstGeom>
          <a:solidFill>
            <a:schemeClr val="accent1"/>
          </a:solidFill>
          <a:ln/>
        </p:spPr>
      </p:sp>
      <p:pic>
        <p:nvPicPr>
          <p:cNvPr id="6" name="Fix icon" descr="preencoded.png">    </p:cNvPr>
          <p:cNvPicPr>
            <a:picLocks noChangeAspect="1"/>
          </p:cNvPicPr>
          <p:nvPr/>
        </p:nvPicPr>
        <p:blipFill>
          <a:blip r:embed="rId1"/>
          <a:stretch>
            <a:fillRect/>
          </a:stretch>
        </p:blipFill>
        <p:spPr>
          <a:xfrm>
            <a:off x="922081" y="2037649"/>
            <a:ext cx="313822" cy="313822"/>
          </a:xfrm>
          <a:prstGeom prst="rect">
            <a:avLst/>
          </a:prstGeom>
        </p:spPr>
      </p:pic>
      <p:sp>
        <p:nvSpPr>
          <p:cNvPr id="7" name="Text 4"/>
          <p:cNvSpPr txBox="1"/>
          <p:nvPr/>
        </p:nvSpPr>
        <p:spPr>
          <a:xfrm>
            <a:off x="1536192" y="1892808"/>
            <a:ext cx="2377440" cy="603504"/>
          </a:xfrm>
          <a:prstGeom prst="rect">
            <a:avLst/>
          </a:prstGeom>
          <a:noFill/>
          <a:ln/>
        </p:spPr>
        <p:txBody>
          <a:bodyPr wrap="square" lIns="0" tIns="0" rIns="0" bIns="0" rtlCol="0" anchor="ctr"/>
          <a:lstStyle/>
          <a:p>
            <a:pPr indent="0" marL="0">
              <a:buNone/>
            </a:pPr>
            <a:r>
              <a:rPr lang="en-US" sz="2100" b="1" dirty="0">
                <a:solidFill>
                  <a:schemeClr val="bg1"/>
                </a:solidFill>
              </a:rPr>
              <a:t>Fix</a:t>
            </a:r>
            <a:endParaRPr lang="en-US" sz="2100" dirty="0"/>
          </a:p>
        </p:txBody>
      </p:sp>
      <p:sp>
        <p:nvSpPr>
          <p:cNvPr id="8" name="Text 5"/>
          <p:cNvSpPr txBox="1"/>
          <p:nvPr/>
        </p:nvSpPr>
        <p:spPr>
          <a:xfrm>
            <a:off x="804672" y="2697480"/>
            <a:ext cx="3063240" cy="24231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rPr>
              <a:t>'Verify first' signals: new bank details, moving to WhatsApp, third-party deposits, unsolicited offers</a:t>
            </a:r>
            <a:endParaRPr lang="en-US" sz="1500" dirty="0"/>
          </a:p>
          <a:p>
            <a:pPr marL="342900" indent="-342900">
              <a:spcAft>
                <a:spcPts val="800"/>
              </a:spcAft>
              <a:buSzPct val="100000"/>
              <a:buChar char="•"/>
            </a:pPr>
            <a:r>
              <a:rPr lang="en-US" sz="1500" dirty="0">
                <a:solidFill>
                  <a:schemeClr val="bg1"/>
                </a:solidFill>
              </a:rPr>
              <a:t>A 'dangerous' floor for a confident analyst backed by a rule</a:t>
            </a:r>
            <a:endParaRPr lang="en-US" sz="1500" dirty="0"/>
          </a:p>
          <a:p>
            <a:pPr marL="342900" indent="-342900">
              <a:spcAft>
                <a:spcPts val="800"/>
              </a:spcAft>
              <a:buSzPct val="100000"/>
              <a:buChar char="•"/>
            </a:pPr>
            <a:r>
              <a:rPr lang="en-US" sz="1500" dirty="0">
                <a:solidFill>
                  <a:schemeClr val="bg1"/>
                </a:solidFill>
              </a:rPr>
              <a:t>Marketing-aware prompt; negation-aware rules; better Turkish detection</a:t>
            </a:r>
            <a:endParaRPr lang="en-US" sz="1500" dirty="0"/>
          </a:p>
        </p:txBody>
      </p:sp>
      <p:sp>
        <p:nvSpPr>
          <p:cNvPr id="9" name="Prove"/>
          <p:cNvSpPr/>
          <p:nvPr/>
        </p:nvSpPr>
        <p:spPr>
          <a:xfrm>
            <a:off x="4329684" y="1691640"/>
            <a:ext cx="3529584" cy="3520440"/>
          </a:xfrm>
          <a:prstGeom prst="roundRect">
            <a:avLst>
              <a:gd name="adj" fmla="val 3117"/>
            </a:avLst>
          </a:prstGeom>
          <a:solidFill>
            <a:srgbClr val="161B2F"/>
          </a:solidFill>
          <a:ln/>
        </p:spPr>
      </p:sp>
      <p:sp>
        <p:nvSpPr>
          <p:cNvPr id="10" name="Prove circle"/>
          <p:cNvSpPr/>
          <p:nvPr/>
        </p:nvSpPr>
        <p:spPr>
          <a:xfrm>
            <a:off x="4558284" y="1892808"/>
            <a:ext cx="603504" cy="603504"/>
          </a:xfrm>
          <a:prstGeom prst="ellipse">
            <a:avLst/>
          </a:prstGeom>
          <a:solidFill>
            <a:schemeClr val="accent1"/>
          </a:solidFill>
          <a:ln/>
        </p:spPr>
      </p:sp>
      <p:pic>
        <p:nvPicPr>
          <p:cNvPr id="11" name="Prove icon" descr="preencoded.png">    </p:cNvPr>
          <p:cNvPicPr>
            <a:picLocks noChangeAspect="1"/>
          </p:cNvPicPr>
          <p:nvPr/>
        </p:nvPicPr>
        <p:blipFill>
          <a:blip r:embed="rId2"/>
          <a:stretch>
            <a:fillRect/>
          </a:stretch>
        </p:blipFill>
        <p:spPr>
          <a:xfrm>
            <a:off x="4703125" y="2037649"/>
            <a:ext cx="313822" cy="313822"/>
          </a:xfrm>
          <a:prstGeom prst="rect">
            <a:avLst/>
          </a:prstGeom>
        </p:spPr>
      </p:pic>
      <p:sp>
        <p:nvSpPr>
          <p:cNvPr id="12" name="Text 8"/>
          <p:cNvSpPr txBox="1"/>
          <p:nvPr/>
        </p:nvSpPr>
        <p:spPr>
          <a:xfrm>
            <a:off x="5317236" y="1892808"/>
            <a:ext cx="2377440" cy="603504"/>
          </a:xfrm>
          <a:prstGeom prst="rect">
            <a:avLst/>
          </a:prstGeom>
          <a:noFill/>
          <a:ln/>
        </p:spPr>
        <p:txBody>
          <a:bodyPr wrap="square" lIns="0" tIns="0" rIns="0" bIns="0" rtlCol="0" anchor="ctr"/>
          <a:lstStyle/>
          <a:p>
            <a:pPr indent="0" marL="0">
              <a:buNone/>
            </a:pPr>
            <a:r>
              <a:rPr lang="en-US" sz="2100" b="1" dirty="0">
                <a:solidFill>
                  <a:schemeClr val="bg1"/>
                </a:solidFill>
              </a:rPr>
              <a:t>Prove</a:t>
            </a:r>
            <a:endParaRPr lang="en-US" sz="2100" dirty="0"/>
          </a:p>
        </p:txBody>
      </p:sp>
      <p:sp>
        <p:nvSpPr>
          <p:cNvPr id="13" name="Text 9"/>
          <p:cNvSpPr txBox="1"/>
          <p:nvPr/>
        </p:nvSpPr>
        <p:spPr>
          <a:xfrm>
            <a:off x="4585716" y="2697480"/>
            <a:ext cx="3063240" cy="24231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rPr>
              <a:t>Tune only on separate development data</a:t>
            </a:r>
            <a:endParaRPr lang="en-US" sz="1500" dirty="0"/>
          </a:p>
          <a:p>
            <a:pPr marL="342900" indent="-342900">
              <a:spcAft>
                <a:spcPts val="800"/>
              </a:spcAft>
              <a:buSzPct val="100000"/>
              <a:buChar char="•"/>
            </a:pPr>
            <a:r>
              <a:rPr lang="en-US" sz="1500" dirty="0">
                <a:solidFill>
                  <a:schemeClr val="bg1"/>
                </a:solidFill>
              </a:rPr>
              <a:t>A human check of 50 labels</a:t>
            </a:r>
            <a:endParaRPr lang="en-US" sz="1500" dirty="0"/>
          </a:p>
          <a:p>
            <a:pPr marL="342900" indent="-342900">
              <a:spcAft>
                <a:spcPts val="800"/>
              </a:spcAft>
              <a:buSzPct val="100000"/>
              <a:buChar char="•"/>
            </a:pPr>
            <a:r>
              <a:rPr lang="en-US" sz="1500" dirty="0">
                <a:solidFill>
                  <a:schemeClr val="bg1"/>
                </a:solidFill>
              </a:rPr>
              <a:t>Re-run the frozen test set once and report both runs side by side</a:t>
            </a:r>
            <a:endParaRPr lang="en-US" sz="1500" dirty="0"/>
          </a:p>
        </p:txBody>
      </p:sp>
      <p:sp>
        <p:nvSpPr>
          <p:cNvPr id="14" name="Plug in"/>
          <p:cNvSpPr/>
          <p:nvPr/>
        </p:nvSpPr>
        <p:spPr>
          <a:xfrm>
            <a:off x="8110728" y="1691640"/>
            <a:ext cx="3529584" cy="3520440"/>
          </a:xfrm>
          <a:prstGeom prst="roundRect">
            <a:avLst>
              <a:gd name="adj" fmla="val 3117"/>
            </a:avLst>
          </a:prstGeom>
          <a:solidFill>
            <a:srgbClr val="161B2F"/>
          </a:solidFill>
          <a:ln/>
        </p:spPr>
      </p:sp>
      <p:sp>
        <p:nvSpPr>
          <p:cNvPr id="15" name="Plug in circle"/>
          <p:cNvSpPr/>
          <p:nvPr/>
        </p:nvSpPr>
        <p:spPr>
          <a:xfrm>
            <a:off x="8339328" y="1892808"/>
            <a:ext cx="603504" cy="603504"/>
          </a:xfrm>
          <a:prstGeom prst="ellipse">
            <a:avLst/>
          </a:prstGeom>
          <a:solidFill>
            <a:schemeClr val="accent1"/>
          </a:solidFill>
          <a:ln/>
        </p:spPr>
      </p:sp>
      <p:pic>
        <p:nvPicPr>
          <p:cNvPr id="16" name="Plug in icon" descr="preencoded.png">    </p:cNvPr>
          <p:cNvPicPr>
            <a:picLocks noChangeAspect="1"/>
          </p:cNvPicPr>
          <p:nvPr/>
        </p:nvPicPr>
        <p:blipFill>
          <a:blip r:embed="rId3"/>
          <a:stretch>
            <a:fillRect/>
          </a:stretch>
        </p:blipFill>
        <p:spPr>
          <a:xfrm>
            <a:off x="8484169" y="2037649"/>
            <a:ext cx="313822" cy="313822"/>
          </a:xfrm>
          <a:prstGeom prst="rect">
            <a:avLst/>
          </a:prstGeom>
        </p:spPr>
      </p:pic>
      <p:sp>
        <p:nvSpPr>
          <p:cNvPr id="17" name="Text 12"/>
          <p:cNvSpPr txBox="1"/>
          <p:nvPr/>
        </p:nvSpPr>
        <p:spPr>
          <a:xfrm>
            <a:off x="9098280" y="1892808"/>
            <a:ext cx="2377440" cy="603504"/>
          </a:xfrm>
          <a:prstGeom prst="rect">
            <a:avLst/>
          </a:prstGeom>
          <a:noFill/>
          <a:ln/>
        </p:spPr>
        <p:txBody>
          <a:bodyPr wrap="square" lIns="0" tIns="0" rIns="0" bIns="0" rtlCol="0" anchor="ctr"/>
          <a:lstStyle/>
          <a:p>
            <a:pPr indent="0" marL="0">
              <a:buNone/>
            </a:pPr>
            <a:r>
              <a:rPr lang="en-US" sz="2100" b="1" dirty="0">
                <a:solidFill>
                  <a:schemeClr val="bg1"/>
                </a:solidFill>
              </a:rPr>
              <a:t>Plug in</a:t>
            </a:r>
            <a:endParaRPr lang="en-US" sz="2100" dirty="0"/>
          </a:p>
        </p:txBody>
      </p:sp>
      <p:sp>
        <p:nvSpPr>
          <p:cNvPr id="18" name="Text 13"/>
          <p:cNvSpPr txBox="1"/>
          <p:nvPr/>
        </p:nvSpPr>
        <p:spPr>
          <a:xfrm>
            <a:off x="8366760" y="2697480"/>
            <a:ext cx="3063240" cy="24231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rPr>
              <a:t>PayPal sandbox: authorise first, then proceed captures, hold asks the owner, block voids</a:t>
            </a:r>
            <a:endParaRPr lang="en-US" sz="1500" dirty="0"/>
          </a:p>
          <a:p>
            <a:pPr marL="342900" indent="-342900">
              <a:spcAft>
                <a:spcPts val="800"/>
              </a:spcAft>
              <a:buSzPct val="100000"/>
              <a:buChar char="•"/>
            </a:pPr>
            <a:r>
              <a:rPr lang="en-US" sz="1500" dirty="0">
                <a:solidFill>
                  <a:schemeClr val="bg1"/>
                </a:solidFill>
              </a:rPr>
              <a:t>Browser and mail extension</a:t>
            </a:r>
            <a:endParaRPr lang="en-US" sz="1500" dirty="0"/>
          </a:p>
          <a:p>
            <a:pPr marL="342900" indent="-342900">
              <a:spcAft>
                <a:spcPts val="800"/>
              </a:spcAft>
              <a:buSzPct val="100000"/>
              <a:buChar char="•"/>
            </a:pPr>
            <a:r>
              <a:rPr lang="en-US" sz="1500" dirty="0">
                <a:solidFill>
                  <a:schemeClr val="bg1"/>
                </a:solidFill>
              </a:rPr>
              <a:t>A feedback button to grow a modern labelled dataset</a:t>
            </a:r>
            <a:endParaRPr lang="en-US" sz="1500" dirty="0"/>
          </a:p>
        </p:txBody>
      </p:sp>
      <p:sp>
        <p:nvSpPr>
          <p:cNvPr id="19" name="Text 14"/>
          <p:cNvSpPr txBox="1"/>
          <p:nvPr/>
        </p:nvSpPr>
        <p:spPr>
          <a:xfrm>
            <a:off x="548640" y="5440680"/>
            <a:ext cx="5486400" cy="457200"/>
          </a:xfrm>
          <a:prstGeom prst="rect">
            <a:avLst/>
          </a:prstGeom>
          <a:noFill/>
          <a:ln/>
        </p:spPr>
        <p:txBody>
          <a:bodyPr wrap="square" lIns="0" tIns="0" rIns="0" bIns="0" rtlCol="0" anchor="t"/>
          <a:lstStyle/>
          <a:p>
            <a:pPr indent="0" marL="0">
              <a:buNone/>
            </a:pPr>
            <a:r>
              <a:rPr lang="en-US" sz="2600" b="1" dirty="0">
                <a:solidFill>
                  <a:schemeClr val="bg1"/>
                </a:solidFill>
                <a:latin typeface="+mj-lt" pitchFamily="34" charset="0"/>
                <a:ea typeface="+mj-lt" pitchFamily="34" charset="-122"/>
                <a:cs typeface="+mj-lt" pitchFamily="34" charset="-120"/>
              </a:rPr>
              <a:t>Thank you.</a:t>
            </a:r>
            <a:endParaRPr lang="en-US" sz="2600" dirty="0"/>
          </a:p>
        </p:txBody>
      </p:sp>
      <p:sp>
        <p:nvSpPr>
          <p:cNvPr id="20" name="Text 15"/>
          <p:cNvSpPr txBox="1"/>
          <p:nvPr/>
        </p:nvSpPr>
        <p:spPr>
          <a:xfrm>
            <a:off x="548640" y="5943600"/>
            <a:ext cx="11064240" cy="329184"/>
          </a:xfrm>
          <a:prstGeom prst="rect">
            <a:avLst/>
          </a:prstGeom>
          <a:noFill/>
          <a:ln/>
        </p:spPr>
        <p:txBody>
          <a:bodyPr wrap="square" lIns="0" tIns="0" rIns="0" bIns="0" rtlCol="0" anchor="t"/>
          <a:lstStyle/>
          <a:p>
            <a:pPr indent="0" marL="0">
              <a:buNone/>
            </a:pPr>
            <a:r>
              <a:rPr lang="en-US" sz="1500" b="1" dirty="0">
                <a:solidFill>
                  <a:schemeClr val="bg1"/>
                </a:solidFill>
              </a:rPr>
              <a:t>Try it: </a:t>
            </a:r>
            <a:pPr indent="0" marL="0">
              <a:buNone/>
            </a:pPr>
            <a:r>
              <a:rPr lang="en-US" sz="1500" dirty="0">
                <a:solidFill>
                  <a:schemeClr val="bg1"/>
                </a:solidFill>
              </a:rPr>
              <a:t>trustgate-k45p.onrender.com     </a:t>
            </a:r>
            <a:pPr indent="0" marL="0">
              <a:buNone/>
            </a:pPr>
            <a:r>
              <a:rPr lang="en-US" sz="1500" b="1" dirty="0">
                <a:solidFill>
                  <a:schemeClr val="bg1"/>
                </a:solidFill>
              </a:rPr>
              <a:t>Code and evaluation: </a:t>
            </a:r>
            <a:pPr indent="0" marL="0">
              <a:buNone/>
            </a:pPr>
            <a:r>
              <a:rPr lang="en-US" sz="1500" dirty="0">
                <a:solidFill>
                  <a:schemeClr val="bg1"/>
                </a:solidFill>
              </a:rPr>
              <a:t>github.com/hasancomert/trustgateforfinance</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TrustGate">
  <a:themeElements>
    <a:clrScheme name="TrustGate">
      <a:dk1>
        <a:srgbClr val="141A33"/>
      </a:dk1>
      <a:lt1>
        <a:srgbClr val="FFFFFF"/>
      </a:lt1>
      <a:dk2>
        <a:srgbClr val="0E1222"/>
      </a:dk2>
      <a:lt2>
        <a:srgbClr val="F4F5FA"/>
      </a:lt2>
      <a:accent1>
        <a:srgbClr val="3B4CCA"/>
      </a:accent1>
      <a:accent2>
        <a:srgbClr val="BF1F2B"/>
      </a:accent2>
      <a:accent3>
        <a:srgbClr val="E2A300"/>
      </a:accent3>
      <a:accent4>
        <a:srgbClr val="0F7A56"/>
      </a:accent4>
      <a:accent5>
        <a:srgbClr val="E8642C"/>
      </a:accent5>
      <a:accent6>
        <a:srgbClr val="5B6380"/>
      </a:accent6>
      <a:hlink>
        <a:srgbClr val="3B4CCA"/>
      </a:hlink>
      <a:folHlink>
        <a:srgbClr val="4B3FC0"/>
      </a:folHlink>
    </a:clrScheme>
    <a:fontScheme name="TrustGat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TrustGate: verify before money moves</dc:title>
  <dc:subject>University of Derby Cyber AI Hackathon 2026, Round 1</dc:subject>
  <dc:creator>PptxGenJS</dc:creator>
  <cp:lastModifiedBy>PptxGenJS</cp:lastModifiedBy>
  <cp:revision>1</cp:revision>
  <dcterms:created xsi:type="dcterms:W3CDTF">2026-10-12T20:02:38Z</dcterms:created>
  <dcterms:modified xsi:type="dcterms:W3CDTF">2026-10-12T20:02:38Z</dcterms:modified>
</cp:coreProperties>
</file>